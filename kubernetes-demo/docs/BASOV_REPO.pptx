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embeddedFontLs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iB62dpDpBfChSfR3iofGTXpPTn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-regular.fntdata"/><Relationship Id="rId14" Type="http://schemas.openxmlformats.org/officeDocument/2006/relationships/slide" Target="slides/slide10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font" Target="fonts/Roboto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" name="Google Shape;1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" name="Google Shape;1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/>
          <p:nvPr/>
        </p:nvSpPr>
        <p:spPr>
          <a:xfrm>
            <a:off x="7434709" y="327645"/>
            <a:ext cx="1566074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9CA3"/>
              </a:buClr>
              <a:buSzPts val="1080"/>
              <a:buFont typeface="Roboto"/>
              <a:buNone/>
            </a:pPr>
            <a:r>
              <a:rPr b="0" i="0" lang="en-US" sz="1080" u="none" cap="none" strike="noStrike">
                <a:solidFill>
                  <a:srgbClr val="9E9CA3"/>
                </a:solidFill>
                <a:latin typeface="Roboto"/>
                <a:ea typeface="Roboto"/>
                <a:cs typeface="Roboto"/>
                <a:sym typeface="Roboto"/>
              </a:rPr>
              <a:t>K8S · ДЕМО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48580" y="1258193"/>
            <a:ext cx="5912718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6B5BA"/>
              </a:buClr>
              <a:buSzPts val="1220"/>
              <a:buFont typeface="Roboto"/>
              <a:buNone/>
            </a:pPr>
            <a:r>
              <a:rPr b="0" i="0" lang="en-US" sz="1220" u="none" cap="none" strike="noStrike">
                <a:solidFill>
                  <a:srgbClr val="B6B5BA"/>
                </a:solidFill>
                <a:latin typeface="Roboto"/>
                <a:ea typeface="Roboto"/>
                <a:cs typeface="Roboto"/>
                <a:sym typeface="Roboto"/>
              </a:rPr>
              <a:t>Otus · Инфраструктурная платформа на основе Kubernetes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48580" y="1527497"/>
            <a:ext cx="59258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10"/>
              <a:buFont typeface="Roboto"/>
              <a:buNone/>
            </a:pPr>
            <a:r>
              <a:rPr b="1" i="0" lang="en-US" sz="461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kubernetes-demo</a:t>
            </a:r>
            <a:endParaRPr b="0" i="0" sz="46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48580" y="2311349"/>
            <a:ext cx="4867461" cy="827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8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9"/>
              <a:buFont typeface="Roboto"/>
              <a:buNone/>
            </a:pPr>
            <a:r>
              <a:rPr lang="en-US" sz="173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Басов Юрий Олегович (студент OTUS-2026-05)</a:t>
            </a:r>
            <a:r>
              <a:rPr b="0" i="0" lang="en-US" sz="173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: Подготовка MVP инфраструктурной платформы для приложения</a:t>
            </a:r>
            <a:endParaRPr b="0" i="0" sz="17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48878" y="3363962"/>
            <a:ext cx="4071938" cy="347663"/>
          </a:xfrm>
          <a:prstGeom prst="roundRect">
            <a:avLst>
              <a:gd fmla="val 50000" name="adj"/>
            </a:avLst>
          </a:prstGeom>
          <a:solidFill>
            <a:srgbClr val="3F29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749722" y="3454003"/>
            <a:ext cx="4828476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Roboto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Ветка kubernetes-demo · Kuber-2026-05OTUS/basov_repo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7315706" y="-1462593"/>
            <a:ext cx="3290887" cy="3290887"/>
          </a:xfrm>
          <a:prstGeom prst="ellipse">
            <a:avLst/>
          </a:prstGeom>
          <a:solidFill>
            <a:srgbClr val="3B279D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-914884" y="3862871"/>
            <a:ext cx="2195513" cy="2195513"/>
          </a:xfrm>
          <a:prstGeom prst="ellipse">
            <a:avLst/>
          </a:prstGeom>
          <a:solidFill>
            <a:srgbClr val="7662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2208453" y="1436861"/>
            <a:ext cx="4727094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3309"/>
              <a:buFont typeface="Roboto"/>
              <a:buNone/>
            </a:pPr>
            <a:r>
              <a:rPr lang="en-US" sz="33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MVP Managed Kubernetes прогнозная модель</a:t>
            </a:r>
            <a:endParaRPr b="0" i="0" sz="33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3179802" y="1920478"/>
            <a:ext cx="2784396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3309"/>
              <a:buFont typeface="Roboto"/>
              <a:buNone/>
            </a:pPr>
            <a:r>
              <a:t/>
            </a:r>
            <a:endParaRPr b="0" i="0" sz="33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2461133" y="2721322"/>
            <a:ext cx="2071688" cy="500063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9525">
              <a:srgbClr val="14101F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2681660" y="2826097"/>
            <a:ext cx="290513" cy="290513"/>
          </a:xfrm>
          <a:prstGeom prst="ellipse">
            <a:avLst/>
          </a:prstGeom>
          <a:solidFill>
            <a:srgbClr val="3F29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4614" y="2889052"/>
            <a:ext cx="164529" cy="164529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"/>
          <p:cNvSpPr/>
          <p:nvPr/>
        </p:nvSpPr>
        <p:spPr>
          <a:xfrm>
            <a:off x="3082900" y="2878559"/>
            <a:ext cx="1656717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220"/>
              <a:buFont typeface="Roboto"/>
              <a:buNone/>
            </a:pPr>
            <a:r>
              <a:rPr b="1" i="0" lang="en-US" sz="122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Видео включено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806702" y="2721322"/>
            <a:ext cx="1876425" cy="500063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9525">
              <a:srgbClr val="14101F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5027563" y="2826097"/>
            <a:ext cx="290513" cy="290513"/>
          </a:xfrm>
          <a:prstGeom prst="ellipse">
            <a:avLst/>
          </a:prstGeom>
          <a:solidFill>
            <a:srgbClr val="3F29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90517" y="2889052"/>
            <a:ext cx="164529" cy="164529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"/>
          <p:cNvSpPr/>
          <p:nvPr/>
        </p:nvSpPr>
        <p:spPr>
          <a:xfrm>
            <a:off x="5428804" y="2878559"/>
            <a:ext cx="1402006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220"/>
              <a:buFont typeface="Roboto"/>
              <a:buNone/>
            </a:pPr>
            <a:r>
              <a:rPr b="1" i="0" lang="en-US" sz="122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Звук включён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2975967" y="3496717"/>
            <a:ext cx="4206835" cy="176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150"/>
              <a:buFont typeface="Roboto"/>
              <a:buNone/>
            </a:pPr>
            <a:r>
              <a:rPr b="0" i="0" lang="en-US" sz="1150" u="none" cap="none" strike="noStrike">
                <a:solidFill>
                  <a:srgbClr val="6B6478"/>
                </a:solidFill>
                <a:latin typeface="Roboto"/>
                <a:ea typeface="Roboto"/>
                <a:cs typeface="Roboto"/>
                <a:sym typeface="Roboto"/>
              </a:rPr>
              <a:t>Готов начать защиту проекта kubernetes-demo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0" y="1116"/>
            <a:ext cx="9144000" cy="28575"/>
          </a:xfrm>
          <a:prstGeom prst="rect">
            <a:avLst/>
          </a:prstGeom>
          <a:solidFill>
            <a:srgbClr val="3F29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548580" y="392385"/>
            <a:ext cx="3779736" cy="4524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3020"/>
              <a:buFont typeface="Roboto"/>
              <a:buNone/>
            </a:pPr>
            <a:r>
              <a:rPr b="1" i="0" lang="en-US" sz="302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Защита проекта</a:t>
            </a:r>
            <a:endParaRPr b="0" i="0" sz="3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548580" y="1016719"/>
            <a:ext cx="696784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440"/>
              <a:buFont typeface="Roboto"/>
              <a:buNone/>
            </a:pPr>
            <a:r>
              <a:rPr b="1" i="0" lang="en-US" sz="144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Тема: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548580" y="1328217"/>
            <a:ext cx="8325758" cy="4612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440"/>
              <a:buFont typeface="Roboto"/>
              <a:buNone/>
            </a:pPr>
            <a:r>
              <a:rPr lang="en-US" sz="1440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Прогрозная модель</a:t>
            </a:r>
            <a:r>
              <a:rPr b="0" i="0" lang="en-US" sz="144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 Apache Airflow в Managed Kubernetes с загрузкой курсов валют ЦБ РФ,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440"/>
              <a:buFont typeface="Roboto"/>
              <a:buNone/>
            </a:pPr>
            <a:r>
              <a:rPr b="0" i="0" lang="en-US" sz="144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обработкой PySpark</a:t>
            </a:r>
            <a:r>
              <a:rPr lang="en-US" sz="1440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b="0" i="0" lang="en-US" sz="144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 сохранением в MongoDB, </a:t>
            </a:r>
            <a:r>
              <a:rPr lang="en-US" sz="1440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вычислением на web сервисе среднего за 5 дней.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731937" y="3623816"/>
            <a:ext cx="1004887" cy="1004887"/>
          </a:xfrm>
          <a:prstGeom prst="ellipse">
            <a:avLst/>
          </a:prstGeom>
          <a:solidFill>
            <a:srgbClr val="3F299A"/>
          </a:solidFill>
          <a:ln>
            <a:noFill/>
          </a:ln>
          <a:effectLst>
            <a:outerShdw blurRad="114300" rotWithShape="0" algn="bl" dir="5400000" dist="19050">
              <a:srgbClr val="3F299A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989856" y="3940671"/>
            <a:ext cx="692914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50"/>
              <a:buFont typeface="Roboto"/>
              <a:buNone/>
            </a:pPr>
            <a:r>
              <a:rPr b="1" i="0" lang="en-US" sz="2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ЮБ</a:t>
            </a:r>
            <a:endParaRPr b="0" i="0" sz="2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1956718" y="3760440"/>
            <a:ext cx="1684094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729"/>
              <a:buFont typeface="Roboto"/>
              <a:buNone/>
            </a:pPr>
            <a:r>
              <a:rPr b="1" i="0" lang="en-US" sz="1730" u="none" cap="none" strike="noStrike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Юрий Басов</a:t>
            </a:r>
            <a:endParaRPr b="0" i="0" sz="17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1956718" y="4067398"/>
            <a:ext cx="3582196" cy="395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260"/>
              </a:lnSpc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150"/>
              <a:buFont typeface="Roboto"/>
              <a:buNone/>
            </a:pPr>
            <a:r>
              <a:rPr b="0" i="0" lang="en-US" sz="1150" u="none" cap="none" strike="noStrike">
                <a:solidFill>
                  <a:srgbClr val="6B6478"/>
                </a:solidFill>
                <a:latin typeface="Roboto"/>
                <a:ea typeface="Roboto"/>
                <a:cs typeface="Roboto"/>
                <a:sym typeface="Roboto"/>
              </a:rPr>
              <a:t>Слушатель курса «Инфраструктурная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260"/>
              </a:lnSpc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150"/>
              <a:buFont typeface="Roboto"/>
              <a:buNone/>
            </a:pPr>
            <a:r>
              <a:rPr b="0" i="0" lang="en-US" sz="1150" u="none" cap="none" strike="noStrike">
                <a:solidFill>
                  <a:srgbClr val="6B6478"/>
                </a:solidFill>
                <a:latin typeface="Roboto"/>
                <a:ea typeface="Roboto"/>
                <a:cs typeface="Roboto"/>
                <a:sym typeface="Roboto"/>
              </a:rPr>
              <a:t>платформа на основе Kubernetes», Otus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5760765" y="3711141"/>
            <a:ext cx="2743200" cy="919162"/>
          </a:xfrm>
          <a:prstGeom prst="roundRect">
            <a:avLst>
              <a:gd fmla="val 9948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9525">
              <a:srgbClr val="14101F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5943600" y="3865066"/>
            <a:ext cx="153579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010"/>
              <a:buFont typeface="Roboto"/>
              <a:buNone/>
            </a:pPr>
            <a:r>
              <a:rPr b="0" i="0" lang="en-US" sz="1010" u="none" cap="none" strike="noStrike">
                <a:solidFill>
                  <a:srgbClr val="6B6478"/>
                </a:solidFill>
                <a:latin typeface="Roboto"/>
                <a:ea typeface="Roboto"/>
                <a:cs typeface="Roboto"/>
                <a:sym typeface="Roboto"/>
              </a:rPr>
              <a:t>РЕПОЗИТОРИЙ</a:t>
            </a:r>
            <a:endParaRPr b="0" i="0" sz="10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5943600" y="4083844"/>
            <a:ext cx="2900482" cy="176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150"/>
              <a:buFont typeface="Roboto"/>
              <a:buNone/>
            </a:pPr>
            <a:r>
              <a:rPr b="1" i="0" lang="en-US" sz="115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Kuber-2026-05OTUS/basov_repo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5943600" y="4308797"/>
            <a:ext cx="1960089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080"/>
              <a:buFont typeface="Roboto"/>
              <a:buNone/>
            </a:pPr>
            <a:r>
              <a:rPr b="0" i="0" lang="en-US" sz="1080" u="none" cap="none" strike="noStrike">
                <a:solidFill>
                  <a:srgbClr val="6B6478"/>
                </a:solidFill>
                <a:latin typeface="Roboto"/>
                <a:ea typeface="Roboto"/>
                <a:cs typeface="Roboto"/>
                <a:sym typeface="Roboto"/>
              </a:rPr>
              <a:t>ветка kubernetes-demo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548580" y="392385"/>
            <a:ext cx="3179862" cy="4524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3020"/>
              <a:buFont typeface="Roboto"/>
              <a:buNone/>
            </a:pPr>
            <a:r>
              <a:rPr b="1" i="0" lang="en-US" sz="302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План защиты</a:t>
            </a:r>
            <a:endParaRPr b="0" i="0" sz="3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060698" y="1516670"/>
            <a:ext cx="9525" cy="2390775"/>
          </a:xfrm>
          <a:prstGeom prst="rect">
            <a:avLst/>
          </a:prstGeom>
          <a:solidFill>
            <a:srgbClr val="3F289C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1352922" y="1336886"/>
            <a:ext cx="3219450" cy="419100"/>
          </a:xfrm>
          <a:prstGeom prst="roundRect">
            <a:avLst>
              <a:gd fmla="val 15273" name="adj"/>
            </a:avLst>
          </a:prstGeom>
          <a:solidFill>
            <a:srgbClr val="FFFFFF"/>
          </a:solidFill>
          <a:ln>
            <a:noFill/>
          </a:ln>
          <a:effectLst>
            <a:outerShdw blurRad="47625" rotWithShape="0" algn="bl" dir="5400000" dist="9525">
              <a:srgbClr val="14101F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1517824" y="1453679"/>
            <a:ext cx="225233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220"/>
              <a:buFont typeface="Roboto"/>
              <a:buNone/>
            </a:pPr>
            <a:r>
              <a:rPr b="0" i="0" lang="en-US" sz="122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Цель и задачи проекта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1352922" y="1919697"/>
            <a:ext cx="3219450" cy="419100"/>
          </a:xfrm>
          <a:prstGeom prst="roundRect">
            <a:avLst>
              <a:gd fmla="val 15273" name="adj"/>
            </a:avLst>
          </a:prstGeom>
          <a:solidFill>
            <a:srgbClr val="FFFFFF"/>
          </a:solidFill>
          <a:ln>
            <a:noFill/>
          </a:ln>
          <a:effectLst>
            <a:outerShdw blurRad="47625" rotWithShape="0" algn="bl" dir="5400000" dist="9525">
              <a:srgbClr val="14101F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1517824" y="2036490"/>
            <a:ext cx="3374209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220"/>
              <a:buFont typeface="Roboto"/>
              <a:buNone/>
            </a:pPr>
            <a:r>
              <a:rPr b="0" i="0" lang="en-US" sz="122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Какие технологии использовались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352922" y="2502508"/>
            <a:ext cx="3219450" cy="419100"/>
          </a:xfrm>
          <a:prstGeom prst="roundRect">
            <a:avLst>
              <a:gd fmla="val 15273" name="adj"/>
            </a:avLst>
          </a:prstGeom>
          <a:solidFill>
            <a:srgbClr val="FFFFFF"/>
          </a:solidFill>
          <a:ln>
            <a:noFill/>
          </a:ln>
          <a:effectLst>
            <a:outerShdw blurRad="47625" rotWithShape="0" algn="bl" dir="5400000" dist="9525">
              <a:srgbClr val="14101F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1517824" y="2619301"/>
            <a:ext cx="1574296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220"/>
              <a:buFont typeface="Roboto"/>
              <a:buNone/>
            </a:pPr>
            <a:r>
              <a:rPr b="0" i="0" lang="en-US" sz="122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Что получилось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1352922" y="3085319"/>
            <a:ext cx="3219450" cy="419100"/>
          </a:xfrm>
          <a:prstGeom prst="roundRect">
            <a:avLst>
              <a:gd fmla="val 15273" name="adj"/>
            </a:avLst>
          </a:prstGeom>
          <a:solidFill>
            <a:srgbClr val="FFFFFF"/>
          </a:solidFill>
          <a:ln>
            <a:noFill/>
          </a:ln>
          <a:effectLst>
            <a:outerShdw blurRad="47625" rotWithShape="0" algn="bl" dir="5400000" dist="9525">
              <a:srgbClr val="14101F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1517824" y="3202112"/>
            <a:ext cx="856692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220"/>
              <a:buFont typeface="Roboto"/>
              <a:buNone/>
            </a:pPr>
            <a:r>
              <a:rPr b="0" i="0" lang="en-US" sz="122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1352922" y="3668130"/>
            <a:ext cx="3219450" cy="419100"/>
          </a:xfrm>
          <a:prstGeom prst="roundRect">
            <a:avLst>
              <a:gd fmla="val 15273" name="adj"/>
            </a:avLst>
          </a:prstGeom>
          <a:solidFill>
            <a:srgbClr val="FFFFFF"/>
          </a:solidFill>
          <a:ln>
            <a:noFill/>
          </a:ln>
          <a:effectLst>
            <a:outerShdw blurRad="47625" rotWithShape="0" algn="bl" dir="5400000" dist="9525">
              <a:srgbClr val="14101F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1517824" y="3784922"/>
            <a:ext cx="2532199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220"/>
              <a:buFont typeface="Roboto"/>
              <a:buNone/>
            </a:pPr>
            <a:r>
              <a:rPr b="0" i="0" lang="en-US" sz="122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6127031" y="1543050"/>
            <a:ext cx="2376487" cy="2057400"/>
          </a:xfrm>
          <a:prstGeom prst="roundRect">
            <a:avLst>
              <a:gd fmla="val 5333" name="adj"/>
            </a:avLst>
          </a:prstGeom>
          <a:solidFill>
            <a:srgbClr val="3B279D">
              <a:alpha val="5098"/>
            </a:srgbClr>
          </a:solidFill>
          <a:ln cap="flat" cmpd="sng" w="9525">
            <a:solidFill>
              <a:srgbClr val="3C289A">
                <a:alpha val="1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7182743" y="1991320"/>
            <a:ext cx="401635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3600"/>
              <a:buFont typeface="Roboto"/>
              <a:buNone/>
            </a:pPr>
            <a:r>
              <a:rPr b="1" i="0" lang="en-US" sz="3600" u="none" cap="none" strike="noStrike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6103408" y="2666628"/>
            <a:ext cx="2423659" cy="545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080"/>
              <a:buFont typeface="Roboto"/>
              <a:buNone/>
            </a:pPr>
            <a:r>
              <a:rPr b="0" i="0" lang="en-US" sz="1080" u="none" cap="none" strike="noStrike">
                <a:solidFill>
                  <a:srgbClr val="6B6478"/>
                </a:solidFill>
                <a:latin typeface="Roboto"/>
                <a:ea typeface="Roboto"/>
                <a:cs typeface="Roboto"/>
                <a:sym typeface="Roboto"/>
              </a:rPr>
              <a:t>разделов защиты — от цели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080"/>
              <a:buFont typeface="Roboto"/>
              <a:buNone/>
            </a:pPr>
            <a:r>
              <a:rPr b="0" i="0" lang="en-US" sz="1080" u="none" cap="none" strike="noStrike">
                <a:solidFill>
                  <a:srgbClr val="6B6478"/>
                </a:solidFill>
                <a:latin typeface="Roboto"/>
                <a:ea typeface="Roboto"/>
                <a:cs typeface="Roboto"/>
                <a:sym typeface="Roboto"/>
              </a:rPr>
              <a:t>проекта до открытых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080"/>
              <a:buFont typeface="Roboto"/>
              <a:buNone/>
            </a:pPr>
            <a:r>
              <a:rPr b="0" i="0" lang="en-US" sz="1080" u="none" cap="none" strike="noStrike">
                <a:solidFill>
                  <a:srgbClr val="6B6478"/>
                </a:solidFill>
                <a:latin typeface="Roboto"/>
                <a:ea typeface="Roboto"/>
                <a:cs typeface="Roboto"/>
                <a:sym typeface="Roboto"/>
              </a:rPr>
              <a:t>вопросов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915442" y="1422574"/>
            <a:ext cx="290513" cy="247650"/>
          </a:xfrm>
          <a:prstGeom prst="rect">
            <a:avLst/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970114" y="1446758"/>
            <a:ext cx="181168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None/>
            </a:pPr>
            <a:r>
              <a:rPr b="1" i="0" lang="en-US" sz="1300" u="none" cap="none" strike="noStrike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915442" y="2005385"/>
            <a:ext cx="290513" cy="247650"/>
          </a:xfrm>
          <a:prstGeom prst="rect">
            <a:avLst/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970114" y="2029569"/>
            <a:ext cx="181168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None/>
            </a:pPr>
            <a:r>
              <a:rPr b="1" i="0" lang="en-US" sz="1300" u="none" cap="none" strike="noStrike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915442" y="2588196"/>
            <a:ext cx="290513" cy="247650"/>
          </a:xfrm>
          <a:prstGeom prst="rect">
            <a:avLst/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970114" y="2612380"/>
            <a:ext cx="181168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None/>
            </a:pPr>
            <a:r>
              <a:rPr b="1" i="0" lang="en-US" sz="1300" u="none" cap="none" strike="noStrike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915442" y="3171006"/>
            <a:ext cx="290513" cy="247650"/>
          </a:xfrm>
          <a:prstGeom prst="rect">
            <a:avLst/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970114" y="3195191"/>
            <a:ext cx="181168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None/>
            </a:pPr>
            <a:r>
              <a:rPr b="1" i="0" lang="en-US" sz="1300" u="none" cap="none" strike="noStrike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915442" y="3753817"/>
            <a:ext cx="290513" cy="247650"/>
          </a:xfrm>
          <a:prstGeom prst="rect">
            <a:avLst/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970114" y="3778002"/>
            <a:ext cx="181168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None/>
            </a:pPr>
            <a:r>
              <a:rPr b="1" i="0" lang="en-US" sz="1300" u="none" cap="none" strike="noStrike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548580" y="345728"/>
            <a:ext cx="5012182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2880"/>
              <a:buFont typeface="Roboto"/>
              <a:buNone/>
            </a:pPr>
            <a:r>
              <a:rPr b="1" i="0" lang="en-US" sz="288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Цель и задачи проекта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549027" y="1234380"/>
            <a:ext cx="3290887" cy="3086100"/>
          </a:xfrm>
          <a:prstGeom prst="roundRect">
            <a:avLst>
              <a:gd fmla="val 3556" name="adj"/>
            </a:avLst>
          </a:prstGeom>
          <a:solidFill>
            <a:srgbClr val="3F29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749722" y="1891159"/>
            <a:ext cx="598304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BFE1"/>
              </a:buClr>
              <a:buSzPts val="1010"/>
              <a:buFont typeface="Roboto"/>
              <a:buNone/>
            </a:pPr>
            <a:r>
              <a:rPr b="1" i="0" lang="en-US" sz="1010" u="none" cap="none" strike="noStrike">
                <a:solidFill>
                  <a:srgbClr val="C5BFE1"/>
                </a:solidFill>
                <a:latin typeface="Roboto"/>
                <a:ea typeface="Roboto"/>
                <a:cs typeface="Roboto"/>
                <a:sym typeface="Roboto"/>
              </a:rPr>
              <a:t>ЦЕЛЬ</a:t>
            </a:r>
            <a:endParaRPr b="0" i="0" sz="10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749722" y="2165375"/>
            <a:ext cx="3810595" cy="1494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Roboto"/>
              <a:buNone/>
            </a:pPr>
            <a:r>
              <a:rPr b="1" i="0" lang="en-US" sz="144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Развернуть стабильный Airflow в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Roboto"/>
              <a:buNone/>
            </a:pPr>
            <a:r>
              <a:rPr b="1" i="0" lang="en-US" sz="144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Kubernetes на Яндекс Облаке,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Roboto"/>
              <a:buNone/>
            </a:pPr>
            <a:r>
              <a:rPr b="1" i="0" lang="en-US" sz="144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регулярно скачивать курс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Roboto"/>
              <a:buNone/>
            </a:pPr>
            <a:r>
              <a:rPr b="1" i="0" lang="en-US" sz="144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USD/RUB у ЦБ, обрабатывать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Roboto"/>
              <a:buNone/>
            </a:pPr>
            <a:r>
              <a:rPr b="1" i="0" lang="en-US" sz="144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данные PySpark и сохранять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Roboto"/>
              <a:buNone/>
            </a:pPr>
            <a:r>
              <a:rPr b="1" i="0" lang="en-US" sz="144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результат в MongoDB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4572074" y="1253430"/>
            <a:ext cx="947045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080"/>
              <a:buFont typeface="Roboto"/>
              <a:buNone/>
            </a:pPr>
            <a:r>
              <a:rPr b="1" i="0" lang="en-US" sz="1080" u="none" cap="none" strike="noStrike">
                <a:solidFill>
                  <a:srgbClr val="6B6478"/>
                </a:solidFill>
                <a:latin typeface="Roboto"/>
                <a:ea typeface="Roboto"/>
                <a:cs typeface="Roboto"/>
                <a:sym typeface="Roboto"/>
              </a:rPr>
              <a:t>ЗАДАЧИ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4572074" y="1566714"/>
            <a:ext cx="181168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None/>
            </a:pPr>
            <a:r>
              <a:rPr b="1" i="0" lang="en-US" sz="1300" u="none" cap="none" strike="noStrike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4864596" y="1552426"/>
            <a:ext cx="4572603" cy="383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09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220"/>
              <a:buFont typeface="Roboto"/>
              <a:buNone/>
            </a:pPr>
            <a:r>
              <a:rPr b="0" i="0" lang="en-US" sz="122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Развернуть стабильную версию Airflow в K8s в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409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220"/>
              <a:buFont typeface="Roboto"/>
              <a:buNone/>
            </a:pPr>
            <a:r>
              <a:rPr b="0" i="0" lang="en-US" sz="122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HA-режиме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4572074" y="2073622"/>
            <a:ext cx="181168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None/>
            </a:pPr>
            <a:r>
              <a:rPr b="1" i="0" lang="en-US" sz="1300" u="none" cap="none" strike="noStrike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4864596" y="2059335"/>
            <a:ext cx="4055246" cy="383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09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220"/>
              <a:buFont typeface="Roboto"/>
              <a:buNone/>
            </a:pPr>
            <a:r>
              <a:rPr b="0" i="0" lang="en-US" sz="122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Обеспечить регулярное скачивание курса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409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220"/>
              <a:buFont typeface="Roboto"/>
              <a:buNone/>
            </a:pPr>
            <a:r>
              <a:rPr b="0" i="0" lang="en-US" sz="122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USD/RUB с сайта ЦБ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4572074" y="2580531"/>
            <a:ext cx="181168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None/>
            </a:pPr>
            <a:r>
              <a:rPr b="1" i="0" lang="en-US" sz="1300" u="none" cap="none" strike="noStrike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4864596" y="2566243"/>
            <a:ext cx="3931421" cy="383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09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220"/>
              <a:buFont typeface="Roboto"/>
              <a:buNone/>
            </a:pPr>
            <a:r>
              <a:rPr b="0" i="0" lang="en-US" sz="122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Обработать данные PySpark и сохранить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409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220"/>
              <a:buFont typeface="Roboto"/>
              <a:buNone/>
            </a:pPr>
            <a:r>
              <a:rPr b="0" i="0" lang="en-US" sz="122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результат в MongoDB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4572074" y="3087439"/>
            <a:ext cx="181168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None/>
            </a:pPr>
            <a:r>
              <a:rPr b="1" i="0" lang="en-US" sz="1300" u="none" cap="none" strike="noStrike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4864596" y="3073152"/>
            <a:ext cx="4267297" cy="383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09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220"/>
              <a:buFont typeface="Roboto"/>
              <a:buNone/>
            </a:pPr>
            <a:r>
              <a:rPr b="0" i="0" lang="en-US" sz="122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Настроить мониторинг метрик Airflow через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409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220"/>
              <a:buFont typeface="Roboto"/>
              <a:buNone/>
            </a:pPr>
            <a:r>
              <a:rPr b="0" i="0" lang="en-US" sz="122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Prometheus и Grafana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4572074" y="3594348"/>
            <a:ext cx="181168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None/>
            </a:pPr>
            <a:r>
              <a:rPr b="1" i="0" lang="en-US" sz="1300" u="none" cap="none" strike="noStrike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4864596" y="3580061"/>
            <a:ext cx="4796358" cy="383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09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220"/>
              <a:buFont typeface="Roboto"/>
              <a:buNone/>
            </a:pPr>
            <a:r>
              <a:rPr b="0" i="0" lang="en-US" sz="122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Обеспечить безопасность: Secrets, RBAC, сетевые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409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220"/>
              <a:buFont typeface="Roboto"/>
              <a:buNone/>
            </a:pPr>
            <a:r>
              <a:rPr b="0" i="0" lang="en-US" sz="122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политики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548580" y="345728"/>
            <a:ext cx="7483361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2880"/>
              <a:buFont typeface="Roboto"/>
              <a:buNone/>
            </a:pPr>
            <a:r>
              <a:rPr b="1" i="0" lang="en-US" sz="288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Какие технологии использовались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549511" y="1234380"/>
            <a:ext cx="2466975" cy="3086100"/>
          </a:xfrm>
          <a:prstGeom prst="roundRect">
            <a:avLst>
              <a:gd fmla="val 4448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9525">
              <a:srgbClr val="14101F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730448" y="1387673"/>
            <a:ext cx="276225" cy="276225"/>
          </a:xfrm>
          <a:prstGeom prst="roundRect">
            <a:avLst>
              <a:gd fmla="val 23172" name="adj"/>
            </a:avLst>
          </a:prstGeom>
          <a:solidFill>
            <a:srgbClr val="3B279D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783729" y="1435075"/>
            <a:ext cx="277617" cy="176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150"/>
              <a:buFont typeface="Roboto"/>
              <a:buNone/>
            </a:pPr>
            <a:r>
              <a:rPr b="1" i="0" lang="en-US" sz="1150" u="none" cap="none" strike="noStrike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731416" y="1810122"/>
            <a:ext cx="1459371" cy="204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370"/>
              <a:buFont typeface="Roboto"/>
              <a:buNone/>
            </a:pPr>
            <a:r>
              <a:rPr b="1" i="0" lang="en-US" sz="137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Оркестрация</a:t>
            </a:r>
            <a:endParaRPr b="0" i="0" sz="13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731416" y="2174304"/>
            <a:ext cx="1928552" cy="353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080"/>
              <a:buFont typeface="Roboto"/>
              <a:buNone/>
            </a:pPr>
            <a:r>
              <a:rPr b="0" i="0" lang="en-US" sz="108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Yandex Cloud Managed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080"/>
              <a:buFont typeface="Roboto"/>
              <a:buNone/>
            </a:pPr>
            <a:r>
              <a:rPr b="0" i="0" lang="en-US" sz="108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Kubernetes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731416" y="2630239"/>
            <a:ext cx="2241791" cy="353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080"/>
              <a:buFont typeface="Roboto"/>
              <a:buNone/>
            </a:pPr>
            <a:r>
              <a:rPr b="0" i="0" lang="en-US" sz="108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Apache Airflow (Helm-чарт,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080"/>
              <a:buFont typeface="Roboto"/>
              <a:buNone/>
            </a:pPr>
            <a:r>
              <a:rPr b="0" i="0" lang="en-US" sz="108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KubernetesExecutor)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3292711" y="1234380"/>
            <a:ext cx="2466975" cy="3086100"/>
          </a:xfrm>
          <a:prstGeom prst="roundRect">
            <a:avLst>
              <a:gd fmla="val 4448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9525">
              <a:srgbClr val="14101F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3473648" y="1387673"/>
            <a:ext cx="276225" cy="276225"/>
          </a:xfrm>
          <a:prstGeom prst="roundRect">
            <a:avLst>
              <a:gd fmla="val 23172" name="adj"/>
            </a:avLst>
          </a:prstGeom>
          <a:solidFill>
            <a:srgbClr val="3B279D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3526929" y="1435075"/>
            <a:ext cx="277617" cy="176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150"/>
              <a:buFont typeface="Roboto"/>
              <a:buNone/>
            </a:pPr>
            <a:r>
              <a:rPr b="1" i="0" lang="en-US" sz="1150" u="none" cap="none" strike="noStrike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3474616" y="1810122"/>
            <a:ext cx="910769" cy="204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370"/>
              <a:buFont typeface="Roboto"/>
              <a:buNone/>
            </a:pPr>
            <a:r>
              <a:rPr b="1" i="0" lang="en-US" sz="137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Данные</a:t>
            </a:r>
            <a:endParaRPr b="0" i="0" sz="13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3474616" y="2174304"/>
            <a:ext cx="2182297" cy="353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080"/>
              <a:buFont typeface="Roboto"/>
              <a:buNone/>
            </a:pPr>
            <a:r>
              <a:rPr b="0" i="0" lang="en-US" sz="108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PySpark + MongoDB Spark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080"/>
              <a:buFont typeface="Roboto"/>
              <a:buNone/>
            </a:pPr>
            <a:r>
              <a:rPr b="0" i="0" lang="en-US" sz="108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Connector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3474616" y="2630239"/>
            <a:ext cx="842858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080"/>
              <a:buFont typeface="Roboto"/>
              <a:buNone/>
            </a:pPr>
            <a:r>
              <a:rPr b="0" i="0" lang="en-US" sz="108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MongoDB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3474616" y="2894186"/>
            <a:ext cx="23792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080"/>
              <a:buFont typeface="Roboto"/>
              <a:buNone/>
            </a:pPr>
            <a:r>
              <a:rPr b="0" i="0" lang="en-US" sz="108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Streamlit — курсы и прогноз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6035911" y="1234380"/>
            <a:ext cx="2466975" cy="3086100"/>
          </a:xfrm>
          <a:prstGeom prst="roundRect">
            <a:avLst>
              <a:gd fmla="val 4448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9525">
              <a:srgbClr val="14101F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6216848" y="1387673"/>
            <a:ext cx="276225" cy="276225"/>
          </a:xfrm>
          <a:prstGeom prst="roundRect">
            <a:avLst>
              <a:gd fmla="val 23172" name="adj"/>
            </a:avLst>
          </a:prstGeom>
          <a:solidFill>
            <a:srgbClr val="3B279D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6270129" y="1435075"/>
            <a:ext cx="277617" cy="176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150"/>
              <a:buFont typeface="Roboto"/>
              <a:buNone/>
            </a:pPr>
            <a:r>
              <a:rPr b="1" i="0" lang="en-US" sz="1150" u="none" cap="none" strike="noStrike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6217816" y="1810122"/>
            <a:ext cx="1559399" cy="204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370"/>
              <a:buFont typeface="Roboto"/>
              <a:buNone/>
            </a:pPr>
            <a:r>
              <a:rPr b="1" i="0" lang="en-US" sz="137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Эксплуатация</a:t>
            </a:r>
            <a:endParaRPr b="0" i="0" sz="13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6217816" y="2174304"/>
            <a:ext cx="1841681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080"/>
              <a:buFont typeface="Roboto"/>
              <a:buNone/>
            </a:pPr>
            <a:r>
              <a:rPr b="0" i="0" lang="en-US" sz="108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Prometheus + Grafana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6217816" y="2438251"/>
            <a:ext cx="2433526" cy="353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080"/>
              <a:buFont typeface="Roboto"/>
              <a:buNone/>
            </a:pPr>
            <a:r>
              <a:rPr b="0" i="0" lang="en-US" sz="108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GitHub Actions CI: ruff, pytest,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080"/>
              <a:buFont typeface="Roboto"/>
              <a:buNone/>
            </a:pPr>
            <a:r>
              <a:rPr b="0" i="0" lang="en-US" sz="108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mypy, yamllint, Trivy, gitleaks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548580" y="345728"/>
            <a:ext cx="3477429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2880"/>
              <a:buFont typeface="Roboto"/>
              <a:buNone/>
            </a:pPr>
            <a:r>
              <a:rPr b="1" i="0" lang="en-US" sz="288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Что получилось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547427" y="1274304"/>
            <a:ext cx="57150" cy="57150"/>
          </a:xfrm>
          <a:prstGeom prst="ellipse">
            <a:avLst/>
          </a:prstGeom>
          <a:solidFill>
            <a:srgbClr val="3F29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713110" y="1248668"/>
            <a:ext cx="4136700" cy="401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920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260"/>
              <a:buFont typeface="Roboto"/>
              <a:buNone/>
            </a:pPr>
            <a:r>
              <a:rPr b="0" i="0" lang="en-US" sz="126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DAG для скачивания курсов ЦБ и запуска</a:t>
            </a:r>
            <a:endParaRPr b="0" i="0" sz="12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920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260"/>
              <a:buFont typeface="Roboto"/>
              <a:buNone/>
            </a:pPr>
            <a:r>
              <a:rPr b="0" i="0" lang="en-US" sz="126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обработки</a:t>
            </a:r>
            <a:endParaRPr b="0" i="0" sz="12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547427" y="1819312"/>
            <a:ext cx="57150" cy="57150"/>
          </a:xfrm>
          <a:prstGeom prst="ellipse">
            <a:avLst/>
          </a:prstGeom>
          <a:solidFill>
            <a:srgbClr val="3F29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713110" y="1793677"/>
            <a:ext cx="4212446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260"/>
              <a:buFont typeface="Roboto"/>
              <a:buNone/>
            </a:pPr>
            <a:r>
              <a:rPr b="0" i="0" lang="en-US" sz="126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Helm-values для HA Airflow (base/dev/prod)</a:t>
            </a:r>
            <a:endParaRPr b="0" i="0" sz="12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547427" y="2148371"/>
            <a:ext cx="57150" cy="57150"/>
          </a:xfrm>
          <a:prstGeom prst="ellipse">
            <a:avLst/>
          </a:prstGeom>
          <a:solidFill>
            <a:srgbClr val="3F29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713110" y="2122736"/>
            <a:ext cx="3575715" cy="401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920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260"/>
              <a:buFont typeface="Roboto"/>
              <a:buNone/>
            </a:pPr>
            <a:r>
              <a:rPr b="0" i="0" lang="en-US" sz="126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Манифесты K8s: namespaces, RBAC,</a:t>
            </a:r>
            <a:endParaRPr b="0" i="0" sz="12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920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260"/>
              <a:buFont typeface="Roboto"/>
              <a:buNone/>
            </a:pPr>
            <a:r>
              <a:rPr b="0" i="0" lang="en-US" sz="126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NetworkPolicy, Secrets</a:t>
            </a:r>
            <a:endParaRPr b="0" i="0" sz="12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547427" y="2693380"/>
            <a:ext cx="57150" cy="57150"/>
          </a:xfrm>
          <a:prstGeom prst="ellipse">
            <a:avLst/>
          </a:prstGeom>
          <a:solidFill>
            <a:srgbClr val="3F29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713110" y="2667744"/>
            <a:ext cx="4735607" cy="401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920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260"/>
              <a:buFont typeface="Roboto"/>
              <a:buNone/>
            </a:pPr>
            <a:r>
              <a:rPr b="0" i="0" lang="en-US" sz="126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Streamlit-приложение с прогнозом на 5 рабочих</a:t>
            </a:r>
            <a:endParaRPr b="0" i="0" sz="12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920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260"/>
              <a:buFont typeface="Roboto"/>
              <a:buNone/>
            </a:pPr>
            <a:r>
              <a:rPr b="0" i="0" lang="en-US" sz="126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дней</a:t>
            </a:r>
            <a:endParaRPr b="0" i="0" sz="12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547427" y="3238388"/>
            <a:ext cx="57150" cy="57150"/>
          </a:xfrm>
          <a:prstGeom prst="ellipse">
            <a:avLst/>
          </a:prstGeom>
          <a:solidFill>
            <a:srgbClr val="3F29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713110" y="3212753"/>
            <a:ext cx="4698072" cy="185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260"/>
              <a:buFont typeface="Roboto"/>
              <a:buNone/>
            </a:pPr>
            <a:r>
              <a:rPr b="0" i="0" lang="en-US" sz="126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Мониторинг Airflow через Prometheus и Grafana</a:t>
            </a:r>
            <a:endParaRPr b="0" i="0" sz="12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547427" y="3567447"/>
            <a:ext cx="57150" cy="57150"/>
          </a:xfrm>
          <a:prstGeom prst="ellipse">
            <a:avLst/>
          </a:prstGeom>
          <a:solidFill>
            <a:srgbClr val="3F29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713110" y="3541812"/>
            <a:ext cx="4370710" cy="401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920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260"/>
              <a:buFont typeface="Roboto"/>
              <a:buNone/>
            </a:pPr>
            <a:r>
              <a:rPr b="0" i="0" lang="en-US" sz="126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Тесты, документация и чек-лист готовности</a:t>
            </a:r>
            <a:endParaRPr b="0" i="0" sz="12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920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260"/>
              <a:buFont typeface="Roboto"/>
              <a:buNone/>
            </a:pPr>
            <a:r>
              <a:rPr b="0" i="0" lang="en-US" sz="126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решения</a:t>
            </a:r>
            <a:endParaRPr b="0" i="0" sz="12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5119762" y="1235311"/>
            <a:ext cx="3476625" cy="2981325"/>
          </a:xfrm>
          <a:prstGeom prst="roundRect">
            <a:avLst>
              <a:gd fmla="val 3681" name="adj"/>
            </a:avLst>
          </a:prstGeom>
          <a:solidFill>
            <a:srgbClr val="14101F"/>
          </a:solidFill>
          <a:ln>
            <a:noFill/>
          </a:ln>
          <a:effectLst>
            <a:outerShdw blurRad="114300" rotWithShape="0" algn="bl" dir="5400000" dist="19050">
              <a:srgbClr val="14101F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5303565" y="1387153"/>
            <a:ext cx="1567428" cy="1381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88F"/>
              </a:buClr>
              <a:buSzPts val="939"/>
              <a:buFont typeface="Roboto"/>
              <a:buNone/>
            </a:pPr>
            <a:r>
              <a:rPr b="0" i="0" lang="en-US" sz="940" u="none" cap="none" strike="noStrike">
                <a:solidFill>
                  <a:srgbClr val="8A888F"/>
                </a:solidFill>
                <a:latin typeface="Roboto"/>
                <a:ea typeface="Roboto"/>
                <a:cs typeface="Roboto"/>
                <a:sym typeface="Roboto"/>
              </a:rPr>
              <a:t>kubernetes-demo/</a:t>
            </a:r>
            <a:endParaRPr b="0" i="0" sz="9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5303565" y="1652364"/>
            <a:ext cx="2228344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Roboto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├── dags/cbr_rates_dag.py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5303565" y="1875160"/>
            <a:ext cx="2738735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Roboto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├── src/ spark_job.py, forecast.py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5303565" y="2097956"/>
            <a:ext cx="1576618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Roboto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├── streamlit_app/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5303565" y="2320751"/>
            <a:ext cx="2025774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Roboto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├── airflow/ helm values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5303565" y="2543547"/>
            <a:ext cx="2413211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Roboto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├── k8s/ rbac, netpol, secrets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5303565" y="2766343"/>
            <a:ext cx="1357409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Roboto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├── monitoring/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5303565" y="2989138"/>
            <a:ext cx="892195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Roboto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├── tests/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5303565" y="3211934"/>
            <a:ext cx="2400732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Roboto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├── docs/cloud/README.md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5303565" y="3434730"/>
            <a:ext cx="2209190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Roboto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└── checklist/README.md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548580" y="345728"/>
            <a:ext cx="1927004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2880"/>
              <a:buFont typeface="Roboto"/>
              <a:buNone/>
            </a:pPr>
            <a:r>
              <a:rPr b="1" i="0" lang="en-US" sz="288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548580" y="843037"/>
            <a:ext cx="9216621" cy="176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150"/>
              <a:buFont typeface="Roboto"/>
              <a:buNone/>
            </a:pPr>
            <a:r>
              <a:rPr b="0" i="0" lang="en-US" sz="1150" u="none" cap="none" strike="noStrike">
                <a:solidFill>
                  <a:srgbClr val="6B6478"/>
                </a:solidFill>
                <a:latin typeface="Roboto"/>
                <a:ea typeface="Roboto"/>
                <a:cs typeface="Roboto"/>
                <a:sym typeface="Roboto"/>
              </a:rPr>
              <a:t>Честная оценка по чек-листу проекта: что подтверждено тестами, а что требует реального окружения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549511" y="1338225"/>
            <a:ext cx="3838575" cy="2981325"/>
          </a:xfrm>
          <a:prstGeom prst="roundRect">
            <a:avLst>
              <a:gd fmla="val 3681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9525">
              <a:srgbClr val="14101F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749722" y="1520130"/>
            <a:ext cx="2272747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440"/>
              <a:buFont typeface="Roboto"/>
              <a:buNone/>
            </a:pPr>
            <a:r>
              <a:rPr b="1" i="0" lang="en-US" sz="1440" u="none" cap="none" strike="noStrike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Проверено тестами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748754" y="1914004"/>
            <a:ext cx="47625" cy="47625"/>
          </a:xfrm>
          <a:prstGeom prst="ellipse">
            <a:avLst/>
          </a:prstGeom>
          <a:solidFill>
            <a:srgbClr val="3F29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886792" y="1883792"/>
            <a:ext cx="3094152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080"/>
              <a:buFont typeface="Roboto"/>
              <a:buNone/>
            </a:pPr>
            <a:r>
              <a:rPr b="0" i="0" lang="en-US" sz="108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Логика DAG для загрузки курсов ЦБ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748754" y="2174453"/>
            <a:ext cx="47625" cy="47625"/>
          </a:xfrm>
          <a:prstGeom prst="ellipse">
            <a:avLst/>
          </a:prstGeom>
          <a:solidFill>
            <a:srgbClr val="3F29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886792" y="2144241"/>
            <a:ext cx="3575134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080"/>
              <a:buFont typeface="Roboto"/>
              <a:buNone/>
            </a:pPr>
            <a:r>
              <a:rPr b="0" i="0" lang="en-US" sz="108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Репозиторий MongoDB, прогноз на 5 дней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748754" y="2434903"/>
            <a:ext cx="47625" cy="47625"/>
          </a:xfrm>
          <a:prstGeom prst="ellipse">
            <a:avLst/>
          </a:prstGeom>
          <a:solidFill>
            <a:srgbClr val="3F29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886792" y="2404690"/>
            <a:ext cx="39446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080"/>
              <a:buFont typeface="Roboto"/>
              <a:buNone/>
            </a:pPr>
            <a:r>
              <a:rPr b="0" i="0" lang="en-US" sz="108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Безопасность манифестов K8s: RBAC, лимиты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748754" y="2695352"/>
            <a:ext cx="47625" cy="47625"/>
          </a:xfrm>
          <a:prstGeom prst="ellipse">
            <a:avLst/>
          </a:prstGeom>
          <a:solidFill>
            <a:srgbClr val="3F29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886792" y="2665140"/>
            <a:ext cx="4209544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080"/>
              <a:buFont typeface="Roboto"/>
              <a:buNone/>
            </a:pPr>
            <a:r>
              <a:rPr b="0" i="0" lang="en-US" sz="108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Секреты не попадают в код и историю коммитов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4755914" y="1338225"/>
            <a:ext cx="3838575" cy="2981325"/>
          </a:xfrm>
          <a:prstGeom prst="roundRect">
            <a:avLst>
              <a:gd fmla="val 3681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9525">
              <a:srgbClr val="14101F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4956125" y="1520130"/>
            <a:ext cx="3484684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478"/>
              </a:buClr>
              <a:buSzPts val="1440"/>
              <a:buFont typeface="Roboto"/>
              <a:buNone/>
            </a:pPr>
            <a:r>
              <a:rPr b="1" i="0" lang="en-US" sz="1440" u="none" cap="none" strike="noStrike">
                <a:solidFill>
                  <a:srgbClr val="6B6478"/>
                </a:solidFill>
                <a:latin typeface="Roboto"/>
                <a:ea typeface="Roboto"/>
                <a:cs typeface="Roboto"/>
                <a:sym typeface="Roboto"/>
              </a:rPr>
              <a:t>Требует реального окружения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4955158" y="1914004"/>
            <a:ext cx="47625" cy="47625"/>
          </a:xfrm>
          <a:prstGeom prst="ellipse">
            <a:avLst/>
          </a:prstGeom>
          <a:solidFill>
            <a:srgbClr val="6B64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5093196" y="1883792"/>
            <a:ext cx="36970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080"/>
              <a:buFont typeface="Roboto"/>
              <a:buNone/>
            </a:pPr>
            <a:r>
              <a:rPr b="0" i="0" lang="en-US" sz="108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HA Airflow на живом кластере Yandex Cloud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4955158" y="2174453"/>
            <a:ext cx="47625" cy="47625"/>
          </a:xfrm>
          <a:prstGeom prst="ellipse">
            <a:avLst/>
          </a:prstGeom>
          <a:solidFill>
            <a:srgbClr val="6B64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5093196" y="2144241"/>
            <a:ext cx="3622536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080"/>
              <a:buFont typeface="Roboto"/>
              <a:buNone/>
            </a:pPr>
            <a:r>
              <a:rPr b="0" i="0" lang="en-US" sz="108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PySpark-джоб на реальном Spark-кластере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4955158" y="2434903"/>
            <a:ext cx="47625" cy="47625"/>
          </a:xfrm>
          <a:prstGeom prst="ellipse">
            <a:avLst/>
          </a:prstGeom>
          <a:solidFill>
            <a:srgbClr val="6B64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5093196" y="2404690"/>
            <a:ext cx="3256672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080"/>
              <a:buFont typeface="Roboto"/>
              <a:buNone/>
            </a:pPr>
            <a:r>
              <a:rPr b="0" i="0" lang="en-US" sz="108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Живой Prometheus + Grafana дашборд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4955158" y="2695352"/>
            <a:ext cx="47625" cy="47625"/>
          </a:xfrm>
          <a:prstGeom prst="ellipse">
            <a:avLst/>
          </a:prstGeom>
          <a:solidFill>
            <a:srgbClr val="6B64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5093196" y="2665140"/>
            <a:ext cx="3822978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080"/>
              <a:buFont typeface="Roboto"/>
              <a:buNone/>
            </a:pPr>
            <a:r>
              <a:rPr b="0" i="0" lang="en-US" sz="108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Прогон CI (GitHub Actions) на реальном пуше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5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548580" y="345728"/>
            <a:ext cx="5656652" cy="428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2880"/>
              <a:buFont typeface="Roboto"/>
              <a:buNone/>
            </a:pPr>
            <a:r>
              <a:rPr b="1" i="0" lang="en-US" sz="288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549511" y="1336811"/>
            <a:ext cx="3838575" cy="2881313"/>
          </a:xfrm>
          <a:prstGeom prst="roundRect">
            <a:avLst>
              <a:gd fmla="val 3808" name="adj"/>
            </a:avLst>
          </a:prstGeom>
          <a:solidFill>
            <a:srgbClr val="3B279D">
              <a:alpha val="5098"/>
            </a:srgbClr>
          </a:solidFill>
          <a:ln cap="flat" cmpd="sng" w="9525">
            <a:solidFill>
              <a:srgbClr val="3C289A">
                <a:alpha val="1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754484" y="1524893"/>
            <a:ext cx="2491762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440"/>
              <a:buFont typeface="Roboto"/>
              <a:buNone/>
            </a:pPr>
            <a:r>
              <a:rPr b="1" i="0" lang="en-US" sz="1440" u="none" cap="none" strike="noStrike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Возможные вопросы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754484" y="1902842"/>
            <a:ext cx="166271" cy="176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150"/>
              <a:buFont typeface="Roboto"/>
              <a:buNone/>
            </a:pPr>
            <a:r>
              <a:rPr b="1" i="0" lang="en-US" sz="1150" u="none" cap="none" strike="noStrike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929804" y="1888886"/>
            <a:ext cx="4017905" cy="350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553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120"/>
              <a:buFont typeface="Roboto"/>
              <a:buNone/>
            </a:pPr>
            <a:r>
              <a:rPr b="0" i="0" lang="en-US" sz="112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Как DAG ведёт себя при недоступности сайта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553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120"/>
              <a:buFont typeface="Roboto"/>
              <a:buNone/>
            </a:pPr>
            <a:r>
              <a:rPr b="0" i="0" lang="en-US" sz="112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ЦБ?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754484" y="2363912"/>
            <a:ext cx="166271" cy="176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150"/>
              <a:buFont typeface="Roboto"/>
              <a:buNone/>
            </a:pPr>
            <a:r>
              <a:rPr b="1" i="0" lang="en-US" sz="1150" u="none" cap="none" strike="noStrike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929804" y="2349624"/>
            <a:ext cx="4038994" cy="166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120"/>
              <a:buFont typeface="Roboto"/>
              <a:buNone/>
            </a:pPr>
            <a:r>
              <a:rPr b="0" i="0" lang="en-US" sz="112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Почему прогноз не учитывает праздники РФ?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754484" y="2675930"/>
            <a:ext cx="166271" cy="176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150"/>
              <a:buFont typeface="Roboto"/>
              <a:buNone/>
            </a:pPr>
            <a:r>
              <a:rPr b="1" i="0" lang="en-US" sz="1150" u="none" cap="none" strike="noStrike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929804" y="2661974"/>
            <a:ext cx="4001750" cy="350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553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120"/>
              <a:buFont typeface="Roboto"/>
              <a:buNone/>
            </a:pPr>
            <a:r>
              <a:rPr b="0" i="0" lang="en-US" sz="112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Как расширить решение на другие валютные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553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120"/>
              <a:buFont typeface="Roboto"/>
              <a:buNone/>
            </a:pPr>
            <a:r>
              <a:rPr b="0" i="0" lang="en-US" sz="112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пары?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4755914" y="1336811"/>
            <a:ext cx="3838575" cy="2881313"/>
          </a:xfrm>
          <a:prstGeom prst="roundRect">
            <a:avLst>
              <a:gd fmla="val 3808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9525">
              <a:srgbClr val="14101F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4956125" y="1520130"/>
            <a:ext cx="3102471" cy="214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440"/>
              <a:buFont typeface="Roboto"/>
              <a:buNone/>
            </a:pPr>
            <a:r>
              <a:rPr b="1" lang="en-US" sz="1440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Планы</a:t>
            </a:r>
            <a:r>
              <a:rPr b="1" i="0" lang="en-US" sz="144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 на будущее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4955158" y="1914004"/>
            <a:ext cx="47625" cy="47625"/>
          </a:xfrm>
          <a:prstGeom prst="ellipse">
            <a:avLst/>
          </a:prstGeom>
          <a:solidFill>
            <a:srgbClr val="3F29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5093196" y="1884123"/>
            <a:ext cx="4027676" cy="350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553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120"/>
              <a:buFont typeface="Roboto"/>
              <a:buNone/>
            </a:pPr>
            <a:r>
              <a:rPr b="0" i="0" lang="en-US" sz="112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Перейти на Yandex Managed MongoDB вместо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9553"/>
              </a:lnSpc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120"/>
              <a:buFont typeface="Roboto"/>
              <a:buNone/>
            </a:pPr>
            <a:r>
              <a:rPr b="0" i="0" lang="en-US" sz="112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StatefulSet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4955158" y="2375074"/>
            <a:ext cx="47625" cy="47625"/>
          </a:xfrm>
          <a:prstGeom prst="ellipse">
            <a:avLst/>
          </a:prstGeom>
          <a:solidFill>
            <a:srgbClr val="3F29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5093196" y="2344862"/>
            <a:ext cx="4321470" cy="166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120"/>
              <a:buFont typeface="Roboto"/>
              <a:buNone/>
            </a:pPr>
            <a:r>
              <a:rPr lang="en-US" sz="1120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Настроить</a:t>
            </a:r>
            <a:r>
              <a:rPr b="0" i="0" lang="en-US" sz="112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 egress-политику для ЦБ </a:t>
            </a:r>
            <a:r>
              <a:rPr lang="en-US" sz="1120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под</a:t>
            </a:r>
            <a:r>
              <a:rPr b="0" i="0" lang="en-US" sz="112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 конкретны</a:t>
            </a:r>
            <a:r>
              <a:rPr lang="en-US" sz="1120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е</a:t>
            </a:r>
            <a:r>
              <a:rPr b="0" i="0" lang="en-US" sz="112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 IP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4955158" y="2651894"/>
            <a:ext cx="47625" cy="47625"/>
          </a:xfrm>
          <a:prstGeom prst="ellipse">
            <a:avLst/>
          </a:prstGeom>
          <a:solidFill>
            <a:srgbClr val="3F29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5093196" y="2621682"/>
            <a:ext cx="4118707" cy="166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01F"/>
              </a:buClr>
              <a:buSzPts val="1120"/>
              <a:buFont typeface="Roboto"/>
              <a:buNone/>
            </a:pPr>
            <a:r>
              <a:rPr b="0" i="0" lang="en-US" sz="1120" u="none" cap="none" strike="noStrike">
                <a:solidFill>
                  <a:srgbClr val="14101F"/>
                </a:solidFill>
                <a:latin typeface="Roboto"/>
                <a:ea typeface="Roboto"/>
                <a:cs typeface="Roboto"/>
                <a:sym typeface="Roboto"/>
              </a:rPr>
              <a:t>Настроить автоматическую ротацию секретов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6" name="Google Shape;22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818">
              <a:alpha val="7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548580" y="1921148"/>
            <a:ext cx="6438491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90"/>
              <a:buFont typeface="Roboto"/>
              <a:buNone/>
            </a:pPr>
            <a:r>
              <a:rPr b="1" i="0" lang="en-US" sz="389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Спасибо за внимание!</a:t>
            </a:r>
            <a:endParaRPr b="0" i="0" sz="38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548580" y="2651001"/>
            <a:ext cx="6864429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6B5BA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B6B5BA"/>
                </a:solidFill>
                <a:latin typeface="Roboto"/>
                <a:ea typeface="Roboto"/>
                <a:cs typeface="Roboto"/>
                <a:sym typeface="Roboto"/>
              </a:rPr>
              <a:t>github.com/Kuber-2026-05OTUS/basov_repo · ветка kubernetes-demo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2026-09-18T18:28:24Z</dcterms:created>
  <dc:creator>PptxGenJS</dc:creator>
</cp:coreProperties>
</file>