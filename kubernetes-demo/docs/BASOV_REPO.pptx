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5143500" cx="9144000"/>
  <p:notesSz cx="5143500" cy="9144000"/>
  <p:embeddedFontLst>
    <p:embeddedFont>
      <p:font typeface="Robot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font" Target="fonts/Roboto-regular.fnt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Roboto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hdf1f204027f0dd6_2_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hdf1f204027f0dd6_2_0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df1f204027f0dd6_2_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hdf1f204027f0dd6_2_6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df1f204027f0dd6_2_1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hdf1f204027f0dd6_2_12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df1f204027f0dd6_2_1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hdf1f204027f0dd6_2_18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df1f204027f0dd6_2_2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hdf1f204027f0dd6_2_24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df1f204027f0dd6_2_3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hdf1f204027f0dd6_2_30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df1f204027f0dd6_2_3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hdf1f204027f0dd6_2_36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df1f204027f0dd6_2_4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df1f204027f0dd6_2_42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df1f204027f0dd6_2_48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hdf1f204027f0dd6_2_48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df1f204027f0dd6_2_5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hdf1f204027f0dd6_2_54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df1f204027f0dd6_2_6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hdf1f204027f0dd6_2_60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df1f204027f0dd6_2_66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hdf1f204027f0dd6_2_66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df1f204027f0dd6_2_72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hdf1f204027f0dd6_2_72:notes"/>
          <p:cNvSpPr/>
          <p:nvPr>
            <p:ph idx="2" type="sldImg"/>
          </p:nvPr>
        </p:nvSpPr>
        <p:spPr>
          <a:xfrm>
            <a:off x="857373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1" name="Google Shape;1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2" name="Google Shape;2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8" name="Google Shape;26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6" name="Google Shape;29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9" name="Google Shape;31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342909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2343212" y="4767263"/>
            <a:ext cx="2171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4915031" y="4767263"/>
            <a:ext cx="1600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1100"/>
            </a:lvl1pPr>
            <a:lvl2pPr indent="0" lvl="1" marL="0" algn="r">
              <a:spcBef>
                <a:spcPts val="0"/>
              </a:spcBef>
              <a:buNone/>
              <a:defRPr sz="1100"/>
            </a:lvl2pPr>
            <a:lvl3pPr indent="0" lvl="2" marL="0" algn="r">
              <a:spcBef>
                <a:spcPts val="0"/>
              </a:spcBef>
              <a:buNone/>
              <a:defRPr sz="1100"/>
            </a:lvl3pPr>
            <a:lvl4pPr indent="0" lvl="3" marL="0" algn="r">
              <a:spcBef>
                <a:spcPts val="0"/>
              </a:spcBef>
              <a:buNone/>
              <a:defRPr sz="1100"/>
            </a:lvl4pPr>
            <a:lvl5pPr indent="0" lvl="4" marL="0" algn="r">
              <a:spcBef>
                <a:spcPts val="0"/>
              </a:spcBef>
              <a:buNone/>
              <a:defRPr sz="1100"/>
            </a:lvl5pPr>
            <a:lvl6pPr indent="0" lvl="5" marL="0" algn="r">
              <a:spcBef>
                <a:spcPts val="0"/>
              </a:spcBef>
              <a:buNone/>
              <a:defRPr sz="1100"/>
            </a:lvl6pPr>
            <a:lvl7pPr indent="0" lvl="6" marL="0" algn="r">
              <a:spcBef>
                <a:spcPts val="0"/>
              </a:spcBef>
              <a:buNone/>
              <a:defRPr sz="1100"/>
            </a:lvl7pPr>
            <a:lvl8pPr indent="0" lvl="7" marL="0" algn="r">
              <a:spcBef>
                <a:spcPts val="0"/>
              </a:spcBef>
              <a:buNone/>
              <a:defRPr sz="1100"/>
            </a:lvl8pPr>
            <a:lvl9pPr indent="0" lvl="8" marL="0" algn="r">
              <a:spcBef>
                <a:spcPts val="0"/>
              </a:spcBef>
              <a:buNone/>
              <a:defRPr sz="11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" name="Google Shape;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" name="Google Shape;2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2" name="Google Shape;22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/>
          <p:nvPr/>
        </p:nvSpPr>
        <p:spPr>
          <a:xfrm>
            <a:off x="7434709" y="327645"/>
            <a:ext cx="1566074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CA3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9E9CA3"/>
                </a:solidFill>
                <a:latin typeface="Roboto"/>
                <a:ea typeface="Roboto"/>
                <a:cs typeface="Roboto"/>
                <a:sym typeface="Roboto"/>
              </a:rPr>
              <a:t>K8S · ДЕМО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48580" y="1258193"/>
            <a:ext cx="5912718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6B5BA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B6B5BA"/>
                </a:solidFill>
                <a:latin typeface="Roboto"/>
                <a:ea typeface="Roboto"/>
                <a:cs typeface="Roboto"/>
                <a:sym typeface="Roboto"/>
              </a:rPr>
              <a:t>Otus · Инфраструктурная платформа на основе Kubernetes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548580" y="1527497"/>
            <a:ext cx="5925875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10"/>
              <a:buFont typeface="Roboto"/>
              <a:buNone/>
            </a:pPr>
            <a:r>
              <a:rPr b="1" i="0" lang="en-US" sz="461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kubernetes-demo</a:t>
            </a:r>
            <a:endParaRPr b="0" i="0" sz="4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48580" y="2311349"/>
            <a:ext cx="4867461" cy="8276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82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29"/>
              <a:buFont typeface="Roboto"/>
              <a:buNone/>
            </a:pPr>
            <a:r>
              <a:rPr b="0" i="0" lang="en-US" sz="173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Басов Юрий Олегович (студент OTUS-2026-05): Подготовка MVP инфраструктурной платформы для приложения</a:t>
            </a:r>
            <a:endParaRPr b="0" i="0" sz="17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48878" y="3363962"/>
            <a:ext cx="4071938" cy="347663"/>
          </a:xfrm>
          <a:prstGeom prst="roundRect">
            <a:avLst>
              <a:gd fmla="val 50000" name="adj"/>
            </a:avLst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749722" y="3454003"/>
            <a:ext cx="4828476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Ветка kubernetes-demo · Kuber-2026-05OTUS/basov_repo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7315706" y="-1462593"/>
            <a:ext cx="3290887" cy="3290887"/>
          </a:xfrm>
          <a:prstGeom prst="ellipse">
            <a:avLst/>
          </a:prstGeom>
          <a:solidFill>
            <a:srgbClr val="3B279D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-914884" y="3862871"/>
            <a:ext cx="2195513" cy="2195513"/>
          </a:xfrm>
          <a:prstGeom prst="ellipse">
            <a:avLst/>
          </a:prstGeom>
          <a:solidFill>
            <a:srgbClr val="7662FF">
              <a:alpha val="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2208453" y="1436861"/>
            <a:ext cx="4727094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3309"/>
              <a:buFont typeface="Roboto"/>
              <a:buNone/>
            </a:pPr>
            <a:r>
              <a:rPr b="0" i="0" lang="en-US" sz="331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MVP Managed Kubernetes прогнозная модель</a:t>
            </a:r>
            <a:endParaRPr b="0" i="0" sz="33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3179802" y="1920478"/>
            <a:ext cx="2784396" cy="4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3309"/>
              <a:buFont typeface="Roboto"/>
              <a:buNone/>
            </a:pPr>
            <a:r>
              <a:t/>
            </a:r>
            <a:endParaRPr b="0" i="0" sz="33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2461133" y="2721322"/>
            <a:ext cx="2071688" cy="500063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2681660" y="2826097"/>
            <a:ext cx="290513" cy="290513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1" name="Google Shape;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4614" y="2889052"/>
            <a:ext cx="164529" cy="16452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/>
          <p:nvPr/>
        </p:nvSpPr>
        <p:spPr>
          <a:xfrm>
            <a:off x="3082900" y="2878559"/>
            <a:ext cx="1656717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1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Видео включено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806702" y="2721322"/>
            <a:ext cx="1876425" cy="500063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027563" y="2826097"/>
            <a:ext cx="290513" cy="290513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45" name="Google Shape;4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90517" y="2889052"/>
            <a:ext cx="164529" cy="16452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5428804" y="2878559"/>
            <a:ext cx="1402006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1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Звук включён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2975967" y="3496717"/>
            <a:ext cx="4206835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150"/>
              <a:buFont typeface="Roboto"/>
              <a:buNone/>
            </a:pPr>
            <a:r>
              <a:rPr b="0" i="0" lang="en-US" sz="115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Готов начать защиту проекта kubernetes-demo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0" y="1116"/>
            <a:ext cx="9144000" cy="28575"/>
          </a:xfrm>
          <a:prstGeom prst="rect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548580" y="392385"/>
            <a:ext cx="3779736" cy="452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3020"/>
              <a:buFont typeface="Roboto"/>
              <a:buNone/>
            </a:pPr>
            <a:r>
              <a:rPr b="1" i="0" lang="en-US" sz="30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Защита проекта</a:t>
            </a:r>
            <a:endParaRPr b="0" i="0" sz="30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548580" y="1016719"/>
            <a:ext cx="696784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Тема: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548580" y="1328217"/>
            <a:ext cx="8325758" cy="461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440"/>
              <a:buFont typeface="Roboto"/>
              <a:buNone/>
            </a:pPr>
            <a:r>
              <a:rPr b="0" i="0" lang="en-US" sz="144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Прогрозная модель Apache Airflow в Managed Kubernetes с загрузкой курсов валют ЦБ РФ,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440"/>
              <a:buFont typeface="Roboto"/>
              <a:buNone/>
            </a:pPr>
            <a:r>
              <a:rPr b="0" i="0" lang="en-US" sz="144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обработкой PySpark, сохранением в MongoDB, вычислением на web сервисе среднего за 5 дней.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731937" y="3623816"/>
            <a:ext cx="1004887" cy="1004887"/>
          </a:xfrm>
          <a:prstGeom prst="ellipse">
            <a:avLst/>
          </a:prstGeom>
          <a:solidFill>
            <a:srgbClr val="3F299A"/>
          </a:solidFill>
          <a:ln>
            <a:noFill/>
          </a:ln>
          <a:effectLst>
            <a:outerShdw blurRad="114300" rotWithShape="0" algn="bl" dir="5400000" dist="19050">
              <a:srgbClr val="3F299A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989856" y="3940671"/>
            <a:ext cx="692914" cy="3667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50"/>
              <a:buFont typeface="Roboto"/>
              <a:buNone/>
            </a:pPr>
            <a:r>
              <a:rPr b="1" i="0" lang="en-US" sz="245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ЮБ</a:t>
            </a:r>
            <a:endParaRPr b="0" i="0" sz="2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1956718" y="3760440"/>
            <a:ext cx="1684094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729"/>
              <a:buFont typeface="Roboto"/>
              <a:buNone/>
            </a:pPr>
            <a:r>
              <a:rPr b="1" i="0" lang="en-US" sz="173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Юрий Басов</a:t>
            </a:r>
            <a:endParaRPr b="0" i="0" sz="17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1956718" y="4067398"/>
            <a:ext cx="3582196" cy="395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26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150"/>
              <a:buFont typeface="Roboto"/>
              <a:buNone/>
            </a:pPr>
            <a:r>
              <a:rPr b="0" i="0" lang="en-US" sz="115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Слушатель курса «Инфраструктурная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26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150"/>
              <a:buFont typeface="Roboto"/>
              <a:buNone/>
            </a:pPr>
            <a:r>
              <a:rPr b="0" i="0" lang="en-US" sz="115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платформа на основе Kubernetes», Otus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5760765" y="3711141"/>
            <a:ext cx="2743200" cy="919162"/>
          </a:xfrm>
          <a:prstGeom prst="roundRect">
            <a:avLst>
              <a:gd fmla="val 9948" name="adj"/>
            </a:avLst>
          </a:prstGeom>
          <a:solidFill>
            <a:srgbClr val="FFFFFF"/>
          </a:solidFill>
          <a:ln>
            <a:noFill/>
          </a:ln>
          <a:effectLst>
            <a:outerShdw blurRad="95250" rotWithShape="0" algn="bl" dir="5400000" dist="9525">
              <a:srgbClr val="14101F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5943600" y="3865066"/>
            <a:ext cx="153579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10"/>
              <a:buFont typeface="Roboto"/>
              <a:buNone/>
            </a:pPr>
            <a:r>
              <a:rPr b="0" i="0" lang="en-US" sz="101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РЕПОЗИТОРИЙ</a:t>
            </a:r>
            <a:endParaRPr b="0" i="0" sz="10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5943600" y="4083844"/>
            <a:ext cx="2900482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Kuber-2026-05OTUS/basov_repo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5943600" y="4308797"/>
            <a:ext cx="1960089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ветка kubernetes-demo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548580" y="392385"/>
            <a:ext cx="3179862" cy="452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3020"/>
              <a:buFont typeface="Roboto"/>
              <a:buNone/>
            </a:pPr>
            <a:r>
              <a:rPr b="1" i="0" lang="en-US" sz="30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План защиты</a:t>
            </a:r>
            <a:endParaRPr b="0" i="0" sz="30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1060698" y="1516670"/>
            <a:ext cx="9525" cy="2390775"/>
          </a:xfrm>
          <a:prstGeom prst="rect">
            <a:avLst/>
          </a:prstGeom>
          <a:solidFill>
            <a:srgbClr val="3F289C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7"/>
          <p:cNvSpPr/>
          <p:nvPr/>
        </p:nvSpPr>
        <p:spPr>
          <a:xfrm>
            <a:off x="1352922" y="1336886"/>
            <a:ext cx="3219450" cy="419100"/>
          </a:xfrm>
          <a:prstGeom prst="roundRect">
            <a:avLst>
              <a:gd fmla="val 15273" name="adj"/>
            </a:avLst>
          </a:prstGeom>
          <a:solidFill>
            <a:srgbClr val="FFFFFF"/>
          </a:solidFill>
          <a:ln>
            <a:noFill/>
          </a:ln>
          <a:effectLst>
            <a:outerShdw blurRad="47625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7"/>
          <p:cNvSpPr/>
          <p:nvPr/>
        </p:nvSpPr>
        <p:spPr>
          <a:xfrm>
            <a:off x="1517824" y="1453679"/>
            <a:ext cx="2252335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1352922" y="1919697"/>
            <a:ext cx="3219450" cy="419100"/>
          </a:xfrm>
          <a:prstGeom prst="roundRect">
            <a:avLst>
              <a:gd fmla="val 15273" name="adj"/>
            </a:avLst>
          </a:prstGeom>
          <a:solidFill>
            <a:srgbClr val="FFFFFF"/>
          </a:solidFill>
          <a:ln>
            <a:noFill/>
          </a:ln>
          <a:effectLst>
            <a:outerShdw blurRad="47625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1517824" y="2036490"/>
            <a:ext cx="33742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1352922" y="2502508"/>
            <a:ext cx="3219450" cy="419100"/>
          </a:xfrm>
          <a:prstGeom prst="roundRect">
            <a:avLst>
              <a:gd fmla="val 15273" name="adj"/>
            </a:avLst>
          </a:prstGeom>
          <a:solidFill>
            <a:srgbClr val="FFFFFF"/>
          </a:solidFill>
          <a:ln>
            <a:noFill/>
          </a:ln>
          <a:effectLst>
            <a:outerShdw blurRad="47625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1517824" y="2619301"/>
            <a:ext cx="1574296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7"/>
          <p:cNvSpPr/>
          <p:nvPr/>
        </p:nvSpPr>
        <p:spPr>
          <a:xfrm>
            <a:off x="1352922" y="3085319"/>
            <a:ext cx="3219450" cy="419100"/>
          </a:xfrm>
          <a:prstGeom prst="roundRect">
            <a:avLst>
              <a:gd fmla="val 15273" name="adj"/>
            </a:avLst>
          </a:prstGeom>
          <a:solidFill>
            <a:srgbClr val="FFFFFF"/>
          </a:solidFill>
          <a:ln>
            <a:noFill/>
          </a:ln>
          <a:effectLst>
            <a:outerShdw blurRad="47625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7"/>
          <p:cNvSpPr/>
          <p:nvPr/>
        </p:nvSpPr>
        <p:spPr>
          <a:xfrm>
            <a:off x="1517824" y="3202112"/>
            <a:ext cx="856692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1352922" y="3668130"/>
            <a:ext cx="3219450" cy="419100"/>
          </a:xfrm>
          <a:prstGeom prst="roundRect">
            <a:avLst>
              <a:gd fmla="val 15273" name="adj"/>
            </a:avLst>
          </a:prstGeom>
          <a:solidFill>
            <a:srgbClr val="FFFFFF"/>
          </a:solidFill>
          <a:ln>
            <a:noFill/>
          </a:ln>
          <a:effectLst>
            <a:outerShdw blurRad="47625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1517824" y="3784922"/>
            <a:ext cx="25321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6127031" y="1543050"/>
            <a:ext cx="2376487" cy="2057400"/>
          </a:xfrm>
          <a:prstGeom prst="roundRect">
            <a:avLst>
              <a:gd fmla="val 5333" name="adj"/>
            </a:avLst>
          </a:prstGeom>
          <a:solidFill>
            <a:srgbClr val="3B279D">
              <a:alpha val="5098"/>
            </a:srgbClr>
          </a:solidFill>
          <a:ln cap="flat" cmpd="sng" w="9525">
            <a:solidFill>
              <a:srgbClr val="3C289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7182743" y="1991320"/>
            <a:ext cx="401635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3600"/>
              <a:buFont typeface="Roboto"/>
              <a:buNone/>
            </a:pPr>
            <a:r>
              <a:rPr b="1" i="0" lang="en-US" sz="36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6103408" y="2666628"/>
            <a:ext cx="2423659" cy="5459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разделов защиты — от цели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проекта до открытых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вопросов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915442" y="1422574"/>
            <a:ext cx="290513" cy="24765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970114" y="1446758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915442" y="2005385"/>
            <a:ext cx="290513" cy="24765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970114" y="2029569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/>
          <p:nvPr/>
        </p:nvSpPr>
        <p:spPr>
          <a:xfrm>
            <a:off x="915442" y="2588196"/>
            <a:ext cx="290513" cy="24765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970114" y="2612380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915442" y="3171006"/>
            <a:ext cx="290513" cy="24765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970114" y="3195191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915442" y="3753817"/>
            <a:ext cx="290513" cy="24765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970114" y="3778002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Что разворачивается</a:t>
            </a:r>
            <a:endParaRPr sz="1100"/>
          </a:p>
        </p:txBody>
      </p:sp>
      <p:sp>
        <p:nvSpPr>
          <p:cNvPr id="102" name="Google Shape;102;p8"/>
          <p:cNvSpPr txBox="1"/>
          <p:nvPr/>
        </p:nvSpPr>
        <p:spPr>
          <a:xfrm>
            <a:off x="582946" y="994410"/>
            <a:ext cx="7955400" cy="15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Yandex Cloud Managed Kubernetes: кластер + 3 worker-ноды 4 vCPU / 8 ГБ (по умолчанию, preemptible).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VPC: сеть, подсеть, Security Group, публичный Kubernetes API.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Yandex Container Registry: два репозитория — streamlit и spark-job.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Kubernetes software: MongoDB, Apache Airflow, DAG CBR → PySpark → MongoDB, Streamlit.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Опционально: kube-prometheus-stack (Prometheus, Grafana, Alertmanager, kube-state-metrics).</a:t>
            </a:r>
            <a:endParaRPr sz="1100"/>
          </a:p>
        </p:txBody>
      </p:sp>
      <p:sp>
        <p:nvSpPr>
          <p:cNvPr id="103" name="Google Shape;103;p8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9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Логическая архитектура</a:t>
            </a:r>
            <a:endParaRPr sz="1100"/>
          </a:p>
        </p:txBody>
      </p:sp>
      <p:sp>
        <p:nvSpPr>
          <p:cNvPr id="109" name="Google Shape;109;p9"/>
          <p:cNvSpPr txBox="1"/>
          <p:nvPr/>
        </p:nvSpPr>
        <p:spPr>
          <a:xfrm>
            <a:off x="582946" y="994410"/>
            <a:ext cx="7955400" cy="18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Внешний источник: cbr.ru → Airflow DAG.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Airflow KubernetesExecutor запускает Spark task в namespace data-platform.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Spark job валидирует USD/EUR/CNY и пишет данные в MongoDB.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Streamlit читает MongoDB и показывает курсы/прогноз.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Airflow metrics → statsd-exporter → Prometheus → Grafana.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управляет облачной инфраструктурой; deploy.sh управляет прикладным слоем Kubernetes.</a:t>
            </a:r>
            <a:endParaRPr sz="1100"/>
          </a:p>
        </p:txBody>
      </p:sp>
      <p:sp>
        <p:nvSpPr>
          <p:cNvPr id="110" name="Google Shape;110;p9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Каталог terraform</a:t>
            </a:r>
            <a:endParaRPr sz="1100"/>
          </a:p>
        </p:txBody>
      </p:sp>
      <p:sp>
        <p:nvSpPr>
          <p:cNvPr id="116" name="Google Shape;116;p10"/>
          <p:cNvSpPr txBox="1"/>
          <p:nvPr/>
        </p:nvSpPr>
        <p:spPr>
          <a:xfrm>
            <a:off x="582946" y="994410"/>
            <a:ext cx="7955400" cy="25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versions.tf / provider.tf — Terraform и Yandex provider.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network.tf — VPC, subnet, security group.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iam.tf — service accounts и роли k8s.clusters.agent / vpc.publicAdmin / container-registry.images.puller.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cluster.tf — Managed Kubernetes и worker node group.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registry.tf — Container Registry и image repositories.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scripts/deploy.sh — сборка образов, kubeconfig, secrets, Helm и kubectl deployment.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scripts/destroy.sh — очистка Kubernetes и terraform destroy.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docs/README.md — полный runbook.</a:t>
            </a:r>
            <a:endParaRPr sz="1100"/>
          </a:p>
        </p:txBody>
      </p:sp>
      <p:sp>
        <p:nvSpPr>
          <p:cNvPr id="117" name="Google Shape;117;p10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Подготовка чистого Ubuntu Server 22.04</a:t>
            </a:r>
            <a:endParaRPr sz="1100"/>
          </a:p>
        </p:txBody>
      </p:sp>
      <p:sp>
        <p:nvSpPr>
          <p:cNvPr id="123" name="Google Shape;123;p11"/>
          <p:cNvSpPr txBox="1"/>
          <p:nvPr/>
        </p:nvSpPr>
        <p:spPr>
          <a:xfrm>
            <a:off x="582946" y="994410"/>
            <a:ext cx="7955400" cy="18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Подключиться по SSH и обновить систему: sudo apt update &amp;&amp; sudo apt upgrade -y.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Установить git, curl, jq, unzip, openssl, python3, python3-pip, python3-venv, Docker.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Установить Terraform &gt;= 1.6.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Установить Yandex Cloud CLI (yc), kubectl и Helm 3.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Проверить версии: terraform version; yc version; kubectl version --client; helm version; docker --version.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Клонировать репозиторий и перейти в kubernetes-demo/terraform.</a:t>
            </a:r>
            <a:endParaRPr sz="1100"/>
          </a:p>
        </p:txBody>
      </p:sp>
      <p:sp>
        <p:nvSpPr>
          <p:cNvPr id="124" name="Google Shape;124;p11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Аутентификация Yandex Cloud</a:t>
            </a:r>
            <a:endParaRPr sz="1100"/>
          </a:p>
        </p:txBody>
      </p:sp>
      <p:sp>
        <p:nvSpPr>
          <p:cNvPr id="130" name="Google Shape;130;p12"/>
          <p:cNvSpPr txBox="1"/>
          <p:nvPr/>
        </p:nvSpPr>
        <p:spPr>
          <a:xfrm>
            <a:off x="582946" y="994410"/>
            <a:ext cx="7955400" cy="19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Выполнить yc init и выбрать cloud/folder по умолчанию.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Для Terraform на VPS задать короткоживущий IAM token: export TF_VAR_yc_token="$(yc iam create-token)".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 terraform.tfvars указать только cloud_id и folder_id; секреты в Git не коммитить.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Учетная запись должна иметь права на создание VPC, Managed Kubernetes, service accounts, IAM bindings и Container Registry.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После истечения IAM token получить новый и повторить export.</a:t>
            </a:r>
            <a:endParaRPr sz="1100"/>
          </a:p>
        </p:txBody>
      </p:sp>
      <p:sp>
        <p:nvSpPr>
          <p:cNvPr id="131" name="Google Shape;131;p12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3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terraform init / validate / plan</a:t>
            </a:r>
            <a:endParaRPr sz="1100"/>
          </a:p>
        </p:txBody>
      </p:sp>
      <p:sp>
        <p:nvSpPr>
          <p:cNvPr id="137" name="Google Shape;137;p13"/>
          <p:cNvSpPr txBox="1"/>
          <p:nvPr/>
        </p:nvSpPr>
        <p:spPr>
          <a:xfrm>
            <a:off x="582946" y="994410"/>
            <a:ext cx="7955400" cy="21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cd kubernetes-demo/terraform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cp terraform.tfvars.example terraform.tfvars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Отредактировать cloud_id, folder_id и параметры ресурсов.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fmt -recursive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init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validate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plan -out=tfplan</a:t>
            </a:r>
            <a:endParaRPr sz="1100"/>
          </a:p>
        </p:txBody>
      </p:sp>
      <p:sp>
        <p:nvSpPr>
          <p:cNvPr id="138" name="Google Shape;138;p13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4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terraform apply</a:t>
            </a:r>
            <a:endParaRPr sz="1100"/>
          </a:p>
        </p:txBody>
      </p:sp>
      <p:sp>
        <p:nvSpPr>
          <p:cNvPr id="144" name="Google Shape;144;p14"/>
          <p:cNvSpPr txBox="1"/>
          <p:nvPr/>
        </p:nvSpPr>
        <p:spPr>
          <a:xfrm>
            <a:off x="582946" y="994410"/>
            <a:ext cx="7955400" cy="17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apply tfplan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Проверить создание: VPC → service accounts/IAM → cluster → node group → registry.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Получить outputs: terraform output.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После готовности worker-нód deploy.sh продолжает прикладное развертывание.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Не запускать apply повторно с изменённым tfvars без понимания diff: Terraform будет приводить инфраструктуру к описанному состоянию.</a:t>
            </a:r>
            <a:endParaRPr sz="1100"/>
          </a:p>
        </p:txBody>
      </p:sp>
      <p:sp>
        <p:nvSpPr>
          <p:cNvPr id="145" name="Google Shape;145;p14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Запуск прикладного слоя</a:t>
            </a:r>
            <a:endParaRPr sz="1100"/>
          </a:p>
        </p:txBody>
      </p:sp>
      <p:sp>
        <p:nvSpPr>
          <p:cNvPr id="151" name="Google Shape;151;p15"/>
          <p:cNvSpPr txBox="1"/>
          <p:nvPr/>
        </p:nvSpPr>
        <p:spPr>
          <a:xfrm>
            <a:off x="582946" y="994410"/>
            <a:ext cx="7955400" cy="21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Задать пароль Grafana: export GRAFANA_ADMIN_PASSWORD="...".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Запустить: ./scripts/deploy.sh.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Скрипт настраивает Docker credential helper для Container Registry.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Собирает и push-ит streamlit и spark-job.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Создаёт Kubernetes secrets для MongoDB и Airflow.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Устанавливает MongoDB, Airflow 1.15.0 и kube-prometheus-stack.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Применяет RBAC, NetworkPolicy и ServiceMonitor; патчит Streamlit image на созданный registry image.</a:t>
            </a:r>
            <a:endParaRPr sz="1100"/>
          </a:p>
        </p:txBody>
      </p:sp>
      <p:sp>
        <p:nvSpPr>
          <p:cNvPr id="152" name="Google Shape;152;p15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Проверка после deploy</a:t>
            </a:r>
            <a:endParaRPr sz="1100"/>
          </a:p>
        </p:txBody>
      </p:sp>
      <p:sp>
        <p:nvSpPr>
          <p:cNvPr id="158" name="Google Shape;158;p16"/>
          <p:cNvSpPr txBox="1"/>
          <p:nvPr/>
        </p:nvSpPr>
        <p:spPr>
          <a:xfrm>
            <a:off x="582946" y="994410"/>
            <a:ext cx="7955400" cy="18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kubectl get nodes — все worker-ноды должны быть Ready.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kubectl get pods -A — дождаться Running/Ready для основных компонентов.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Airflow UI: kubectl port-forward -n airflow svc/airflow-webserver 8080:8080.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Streamlit: kubectl port-forward -n data-platform svc/streamlit 8501:8501.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Grafana: kubectl port-forward -n monitoring svc/kube-prometheus-stack-grafana 3000:80.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 Airflow найти cbr_rates_pipeline и выполнить ручной запуск.</a:t>
            </a:r>
            <a:endParaRPr sz="1100"/>
          </a:p>
        </p:txBody>
      </p:sp>
      <p:sp>
        <p:nvSpPr>
          <p:cNvPr id="159" name="Google Shape;159;p16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7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Безопасность и стоимость</a:t>
            </a:r>
            <a:endParaRPr sz="1100"/>
          </a:p>
        </p:txBody>
      </p:sp>
      <p:sp>
        <p:nvSpPr>
          <p:cNvPr id="165" name="Google Shape;165;p17"/>
          <p:cNvSpPr txBox="1"/>
          <p:nvPr/>
        </p:nvSpPr>
        <p:spPr>
          <a:xfrm>
            <a:off x="582946" y="994410"/>
            <a:ext cx="7955400" cy="15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Реальные секреты не хранятся в Git; terraform.tfvars и generated temp values исключены из .gitignore.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Worker nodes используют service account с container-registry.images.puller — без imagePullSecret.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NetworkPolicy: default-deny + точечные разрешения.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Для учебного стенда включены preemptible-ноды; после проверки обязательно удалить ресурсы.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Мониторинг можно отключить enable_monitoring=false, если не хватает ресурсов.</a:t>
            </a:r>
            <a:endParaRPr sz="1100"/>
          </a:p>
        </p:txBody>
      </p:sp>
      <p:sp>
        <p:nvSpPr>
          <p:cNvPr id="166" name="Google Shape;166;p17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Удаление</a:t>
            </a:r>
            <a:endParaRPr sz="1100"/>
          </a:p>
        </p:txBody>
      </p:sp>
      <p:sp>
        <p:nvSpPr>
          <p:cNvPr id="172" name="Google Shape;172;p18"/>
          <p:cNvSpPr txBox="1"/>
          <p:nvPr/>
        </p:nvSpPr>
        <p:spPr>
          <a:xfrm>
            <a:off x="582946" y="994410"/>
            <a:ext cx="7955400" cy="17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Перед удалением убедиться, что данные/результаты больше не нужны.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./scripts/destroy.sh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Проверить в Yandex Cloud отсутствие оставшихся дисков, IP, балансировщиков и registry images.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state должен находиться на VPS и регулярно сохраняться/бэкапиться.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Для production следует вынести state в удалённый backend и использовать Lockbox/External Secrets для секретов.</a:t>
            </a:r>
            <a:endParaRPr sz="1100"/>
          </a:p>
        </p:txBody>
      </p:sp>
      <p:sp>
        <p:nvSpPr>
          <p:cNvPr id="173" name="Google Shape;173;p18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9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Важное примечание по текущему исходному проекту</a:t>
            </a:r>
            <a:endParaRPr sz="1100"/>
          </a:p>
        </p:txBody>
      </p:sp>
      <p:sp>
        <p:nvSpPr>
          <p:cNvPr id="179" name="Google Shape;179;p19"/>
          <p:cNvSpPr txBox="1"/>
          <p:nvPr/>
        </p:nvSpPr>
        <p:spPr>
          <a:xfrm>
            <a:off x="582946" y="994410"/>
            <a:ext cx="7955400" cy="21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не изменяет существующие каталоги проекта: вся новая автоматизация находится в kubernetes-demo/terraform.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 исходном DAG уже зафиксированы пути/параметры, которые предполагают совместно используемое хранилище между Airflow task pod и Spark pod.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В deploy.sh предусмотрен совместимый Spark image: если переданный DAG путь отсутствует в Spark pod, image повторно получает пакет курсов ЦБ и создаёт входной JSON.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Это обходной механизм для демонстрационной среды; для production правильнее изменить DAG на явное shared volume/object storage и типизированный Kubernetes Secret source.</a:t>
            </a:r>
            <a:endParaRPr sz="1100"/>
          </a:p>
        </p:txBody>
      </p:sp>
      <p:sp>
        <p:nvSpPr>
          <p:cNvPr id="180" name="Google Shape;180;p19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0"/>
          <p:cNvSpPr txBox="1"/>
          <p:nvPr/>
        </p:nvSpPr>
        <p:spPr>
          <a:xfrm>
            <a:off x="445782" y="308610"/>
            <a:ext cx="82299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8273A"/>
                </a:solidFill>
                <a:latin typeface="Calibri"/>
                <a:ea typeface="Calibri"/>
                <a:cs typeface="Calibri"/>
                <a:sym typeface="Calibri"/>
              </a:rPr>
              <a:t>Команды администратора — краткая шпаргалка</a:t>
            </a:r>
            <a:endParaRPr sz="1100"/>
          </a:p>
        </p:txBody>
      </p:sp>
      <p:sp>
        <p:nvSpPr>
          <p:cNvPr id="186" name="Google Shape;186;p20"/>
          <p:cNvSpPr txBox="1"/>
          <p:nvPr/>
        </p:nvSpPr>
        <p:spPr>
          <a:xfrm>
            <a:off x="582946" y="994410"/>
            <a:ext cx="7955400" cy="28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export TF_VAR_yc_token="$(yc iam create-token)"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cd kubernetes-demo/terraform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cp terraform.tfvars.example terraform.tfvars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init &amp;&amp; terraform validate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terraform plan -out=tfplan &amp;&amp; terraform apply tfplan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export GRAFANA_ADMIN_PASSWORD="..."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./scripts/deploy.sh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kubectl get pods -A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3303D"/>
                </a:solidFill>
                <a:latin typeface="Calibri"/>
                <a:ea typeface="Calibri"/>
                <a:cs typeface="Calibri"/>
                <a:sym typeface="Calibri"/>
              </a:rPr>
              <a:t>./scripts/destroy.sh</a:t>
            </a:r>
            <a:endParaRPr sz="1100"/>
          </a:p>
        </p:txBody>
      </p:sp>
      <p:sp>
        <p:nvSpPr>
          <p:cNvPr id="187" name="Google Shape;187;p20"/>
          <p:cNvSpPr txBox="1"/>
          <p:nvPr/>
        </p:nvSpPr>
        <p:spPr>
          <a:xfrm>
            <a:off x="8024074" y="4834890"/>
            <a:ext cx="685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78828C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548580" y="345728"/>
            <a:ext cx="5012182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2880"/>
              <a:buFont typeface="Roboto"/>
              <a:buNone/>
            </a:pPr>
            <a:r>
              <a:rPr b="1" i="0" lang="en-US" sz="28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b="0" i="0" sz="2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/>
          <p:nvPr/>
        </p:nvSpPr>
        <p:spPr>
          <a:xfrm>
            <a:off x="549027" y="1234380"/>
            <a:ext cx="3290887" cy="3086100"/>
          </a:xfrm>
          <a:prstGeom prst="roundRect">
            <a:avLst>
              <a:gd fmla="val 3556" name="adj"/>
            </a:avLst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1"/>
          <p:cNvSpPr/>
          <p:nvPr/>
        </p:nvSpPr>
        <p:spPr>
          <a:xfrm>
            <a:off x="749722" y="1891159"/>
            <a:ext cx="598304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BFE1"/>
              </a:buClr>
              <a:buSzPts val="1010"/>
              <a:buFont typeface="Roboto"/>
              <a:buNone/>
            </a:pPr>
            <a:r>
              <a:rPr b="1" i="0" lang="en-US" sz="1010" u="none" cap="none" strike="noStrike">
                <a:solidFill>
                  <a:srgbClr val="C5BFE1"/>
                </a:solidFill>
                <a:latin typeface="Roboto"/>
                <a:ea typeface="Roboto"/>
                <a:cs typeface="Roboto"/>
                <a:sym typeface="Roboto"/>
              </a:rPr>
              <a:t>ЦЕЛЬ</a:t>
            </a:r>
            <a:endParaRPr b="0" i="0" sz="10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1"/>
          <p:cNvSpPr/>
          <p:nvPr/>
        </p:nvSpPr>
        <p:spPr>
          <a:xfrm>
            <a:off x="749722" y="2165375"/>
            <a:ext cx="3810595" cy="14946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Развернуть стабильный Airflow в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Kubernetes на Яндекс Облаке,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регулярно скачивать курс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USD/RUB у ЦБ, обрабатывать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данные PySpark и сохранять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результат в MongoDB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1"/>
          <p:cNvSpPr/>
          <p:nvPr/>
        </p:nvSpPr>
        <p:spPr>
          <a:xfrm>
            <a:off x="4572074" y="1253430"/>
            <a:ext cx="94704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080"/>
              <a:buFont typeface="Roboto"/>
              <a:buNone/>
            </a:pPr>
            <a:r>
              <a:rPr b="1" i="0" lang="en-US" sz="108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ЗАДАЧИ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1"/>
          <p:cNvSpPr/>
          <p:nvPr/>
        </p:nvSpPr>
        <p:spPr>
          <a:xfrm>
            <a:off x="4572074" y="1566714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4864596" y="1552426"/>
            <a:ext cx="4572603" cy="383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Развернуть стабильную версию Airflow в K8s в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HA-режиме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4572074" y="2073622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4864596" y="2059335"/>
            <a:ext cx="4055246" cy="383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Обеспечить регулярное скачивание курса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USD/RUB с сайта ЦБ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4572074" y="2580531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4864596" y="2566243"/>
            <a:ext cx="3931421" cy="383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Обработать данные PySpark и сохранить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результат в MongoDB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4572074" y="3087439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4864596" y="3073152"/>
            <a:ext cx="4267297" cy="383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Настроить мониторинг метрик Airflow через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Prometheus и Grafana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4572074" y="3594348"/>
            <a:ext cx="181168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None/>
            </a:pPr>
            <a:r>
              <a:rPr b="1" i="0" lang="en-US" sz="130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4864596" y="3580061"/>
            <a:ext cx="4796358" cy="3830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Обеспечить безопасность: Secrets, RBAC, сетевые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409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20"/>
              <a:buFont typeface="Roboto"/>
              <a:buNone/>
            </a:pPr>
            <a:r>
              <a:rPr b="0" i="0" lang="en-US" sz="12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политики</a:t>
            </a:r>
            <a:endParaRPr b="0" i="0" sz="12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2"/>
          <p:cNvSpPr/>
          <p:nvPr/>
        </p:nvSpPr>
        <p:spPr>
          <a:xfrm>
            <a:off x="548580" y="345728"/>
            <a:ext cx="7483361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2880"/>
              <a:buFont typeface="Roboto"/>
              <a:buNone/>
            </a:pPr>
            <a:r>
              <a:rPr b="1" i="0" lang="en-US" sz="28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b="0" i="0" sz="2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549511" y="1234380"/>
            <a:ext cx="2466975" cy="3086100"/>
          </a:xfrm>
          <a:prstGeom prst="roundRect">
            <a:avLst>
              <a:gd fmla="val 44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730448" y="1387673"/>
            <a:ext cx="276225" cy="276225"/>
          </a:xfrm>
          <a:prstGeom prst="roundRect">
            <a:avLst>
              <a:gd fmla="val 23172" name="adj"/>
            </a:avLst>
          </a:prstGeom>
          <a:solidFill>
            <a:srgbClr val="3B279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783729" y="1435075"/>
            <a:ext cx="277617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731416" y="1810122"/>
            <a:ext cx="1459371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370"/>
              <a:buFont typeface="Roboto"/>
              <a:buNone/>
            </a:pPr>
            <a:r>
              <a:rPr b="1" i="0" lang="en-US" sz="137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Оркестрация</a:t>
            </a:r>
            <a:endParaRPr b="0" i="0" sz="13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731416" y="2174304"/>
            <a:ext cx="1928552" cy="3539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Yandex Cloud Managed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Kubernetes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2"/>
          <p:cNvSpPr/>
          <p:nvPr/>
        </p:nvSpPr>
        <p:spPr>
          <a:xfrm>
            <a:off x="731416" y="2630239"/>
            <a:ext cx="2241791" cy="3539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Apache Airflow (Helm-чарт,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KubernetesExecutor)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3292711" y="1234380"/>
            <a:ext cx="2466975" cy="3086100"/>
          </a:xfrm>
          <a:prstGeom prst="roundRect">
            <a:avLst>
              <a:gd fmla="val 44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2"/>
          <p:cNvSpPr/>
          <p:nvPr/>
        </p:nvSpPr>
        <p:spPr>
          <a:xfrm>
            <a:off x="3473648" y="1387673"/>
            <a:ext cx="276225" cy="276225"/>
          </a:xfrm>
          <a:prstGeom prst="roundRect">
            <a:avLst>
              <a:gd fmla="val 23172" name="adj"/>
            </a:avLst>
          </a:prstGeom>
          <a:solidFill>
            <a:srgbClr val="3B279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2"/>
          <p:cNvSpPr/>
          <p:nvPr/>
        </p:nvSpPr>
        <p:spPr>
          <a:xfrm>
            <a:off x="3526929" y="1435075"/>
            <a:ext cx="277617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3474616" y="1810122"/>
            <a:ext cx="910769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370"/>
              <a:buFont typeface="Roboto"/>
              <a:buNone/>
            </a:pPr>
            <a:r>
              <a:rPr b="1" i="0" lang="en-US" sz="137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Данные</a:t>
            </a:r>
            <a:endParaRPr b="0" i="0" sz="13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/>
          <p:nvPr/>
        </p:nvSpPr>
        <p:spPr>
          <a:xfrm>
            <a:off x="3474616" y="2174304"/>
            <a:ext cx="2182297" cy="3539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PySpark + MongoDB Spark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Connector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/>
          <p:nvPr/>
        </p:nvSpPr>
        <p:spPr>
          <a:xfrm>
            <a:off x="3474616" y="2630239"/>
            <a:ext cx="842858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MongoDB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3474616" y="2894186"/>
            <a:ext cx="2379256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Streamlit — курсы и прогноз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6035911" y="1234380"/>
            <a:ext cx="2466975" cy="3086100"/>
          </a:xfrm>
          <a:prstGeom prst="roundRect">
            <a:avLst>
              <a:gd fmla="val 44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6216848" y="1387673"/>
            <a:ext cx="276225" cy="276225"/>
          </a:xfrm>
          <a:prstGeom prst="roundRect">
            <a:avLst>
              <a:gd fmla="val 23172" name="adj"/>
            </a:avLst>
          </a:prstGeom>
          <a:solidFill>
            <a:srgbClr val="3B279D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6270129" y="1435075"/>
            <a:ext cx="277617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6217816" y="1810122"/>
            <a:ext cx="1559399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370"/>
              <a:buFont typeface="Roboto"/>
              <a:buNone/>
            </a:pPr>
            <a:r>
              <a:rPr b="1" i="0" lang="en-US" sz="137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Эксплуатация</a:t>
            </a:r>
            <a:endParaRPr b="0" i="0" sz="13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6217816" y="2174304"/>
            <a:ext cx="1841681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Prometheus + Grafana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6217816" y="2438251"/>
            <a:ext cx="2433526" cy="3539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GitHub Actions CI: ruff, pytest,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mypy, yamllint, Trivy, gitleaks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548580" y="345728"/>
            <a:ext cx="3477429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2880"/>
              <a:buFont typeface="Roboto"/>
              <a:buNone/>
            </a:pPr>
            <a:r>
              <a:rPr b="1" i="0" lang="en-US" sz="28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b="0" i="0" sz="2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547427" y="1274304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713110" y="1248668"/>
            <a:ext cx="4136700" cy="401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DAG для скачивания курсов ЦБ и запуска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обработки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547427" y="1819312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713110" y="1793677"/>
            <a:ext cx="421244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Helm-values для HA Airflow (base/dev/prod)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547427" y="2148371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713110" y="2122736"/>
            <a:ext cx="3575715" cy="401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Манифесты K8s: namespaces, RBAC,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NetworkPolicy, Secrets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547427" y="2693380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713110" y="2667744"/>
            <a:ext cx="4735607" cy="401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Streamlit-приложение с прогнозом на 5 рабочих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дней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547427" y="3238388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713110" y="3212753"/>
            <a:ext cx="4698072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Мониторинг Airflow через Prometheus и Grafana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547427" y="3567447"/>
            <a:ext cx="57150" cy="57150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713110" y="3541812"/>
            <a:ext cx="4370710" cy="401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Тесты, документация и чек-лист готовности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492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260"/>
              <a:buFont typeface="Roboto"/>
              <a:buNone/>
            </a:pPr>
            <a:r>
              <a:rPr b="0" i="0" lang="en-US" sz="126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решения</a:t>
            </a:r>
            <a:endParaRPr b="0" i="0" sz="12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5119762" y="1235311"/>
            <a:ext cx="3476625" cy="2981325"/>
          </a:xfrm>
          <a:prstGeom prst="roundRect">
            <a:avLst>
              <a:gd fmla="val 3681" name="adj"/>
            </a:avLst>
          </a:prstGeom>
          <a:solidFill>
            <a:srgbClr val="14101F"/>
          </a:solidFill>
          <a:ln>
            <a:noFill/>
          </a:ln>
          <a:effectLst>
            <a:outerShdw blurRad="114300" rotWithShape="0" algn="bl" dir="5400000" dist="19050">
              <a:srgbClr val="14101F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3"/>
          <p:cNvSpPr/>
          <p:nvPr/>
        </p:nvSpPr>
        <p:spPr>
          <a:xfrm>
            <a:off x="5303565" y="1387153"/>
            <a:ext cx="1567428" cy="1381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888F"/>
              </a:buClr>
              <a:buSzPts val="939"/>
              <a:buFont typeface="Roboto"/>
              <a:buNone/>
            </a:pPr>
            <a:r>
              <a:rPr b="0" i="0" lang="en-US" sz="940" u="none" cap="none" strike="noStrike">
                <a:solidFill>
                  <a:srgbClr val="8A888F"/>
                </a:solidFill>
                <a:latin typeface="Roboto"/>
                <a:ea typeface="Roboto"/>
                <a:cs typeface="Roboto"/>
                <a:sym typeface="Roboto"/>
              </a:rPr>
              <a:t>kubernetes-demo/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3"/>
          <p:cNvSpPr/>
          <p:nvPr/>
        </p:nvSpPr>
        <p:spPr>
          <a:xfrm>
            <a:off x="5303565" y="1652364"/>
            <a:ext cx="2228344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dags/cbr_rates_dag.py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3"/>
          <p:cNvSpPr/>
          <p:nvPr/>
        </p:nvSpPr>
        <p:spPr>
          <a:xfrm>
            <a:off x="5303565" y="1875160"/>
            <a:ext cx="273873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src/ spark_job.py, forecast.py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5303565" y="2097956"/>
            <a:ext cx="1576618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streamlit_app/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5303565" y="2320751"/>
            <a:ext cx="2025774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airflow/ helm values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5303565" y="2543547"/>
            <a:ext cx="2413211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k8s/ rbac, netpol, secrets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5303565" y="2766343"/>
            <a:ext cx="1357409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monitoring/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3"/>
          <p:cNvSpPr/>
          <p:nvPr/>
        </p:nvSpPr>
        <p:spPr>
          <a:xfrm>
            <a:off x="5303565" y="2989138"/>
            <a:ext cx="89219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tests/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/>
          <p:cNvSpPr/>
          <p:nvPr/>
        </p:nvSpPr>
        <p:spPr>
          <a:xfrm>
            <a:off x="5303565" y="3211934"/>
            <a:ext cx="2400732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├── docs/cloud/README.md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/>
          <p:nvPr/>
        </p:nvSpPr>
        <p:spPr>
          <a:xfrm>
            <a:off x="5303565" y="3434730"/>
            <a:ext cx="220919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└── checklist/README.md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24"/>
          <p:cNvSpPr/>
          <p:nvPr/>
        </p:nvSpPr>
        <p:spPr>
          <a:xfrm>
            <a:off x="548580" y="345728"/>
            <a:ext cx="1927004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2880"/>
              <a:buFont typeface="Roboto"/>
              <a:buNone/>
            </a:pPr>
            <a:r>
              <a:rPr b="1" i="0" lang="en-US" sz="28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b="0" i="0" sz="2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4"/>
          <p:cNvSpPr/>
          <p:nvPr/>
        </p:nvSpPr>
        <p:spPr>
          <a:xfrm>
            <a:off x="548580" y="843037"/>
            <a:ext cx="9216621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150"/>
              <a:buFont typeface="Roboto"/>
              <a:buNone/>
            </a:pPr>
            <a:r>
              <a:rPr b="0" i="0" lang="en-US" sz="115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Честная оценка по чек-листу проекта: что подтверждено тестами, а что требует реального окружения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4"/>
          <p:cNvSpPr/>
          <p:nvPr/>
        </p:nvSpPr>
        <p:spPr>
          <a:xfrm>
            <a:off x="549511" y="1338225"/>
            <a:ext cx="3838575" cy="2981325"/>
          </a:xfrm>
          <a:prstGeom prst="roundRect">
            <a:avLst>
              <a:gd fmla="val 3681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4"/>
          <p:cNvSpPr/>
          <p:nvPr/>
        </p:nvSpPr>
        <p:spPr>
          <a:xfrm>
            <a:off x="749722" y="1520130"/>
            <a:ext cx="2272747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Проверено тестами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/>
          <p:nvPr/>
        </p:nvSpPr>
        <p:spPr>
          <a:xfrm>
            <a:off x="748754" y="1914004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4"/>
          <p:cNvSpPr/>
          <p:nvPr/>
        </p:nvSpPr>
        <p:spPr>
          <a:xfrm>
            <a:off x="886792" y="1883792"/>
            <a:ext cx="3094152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Логика DAG для загрузки курсов ЦБ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4"/>
          <p:cNvSpPr/>
          <p:nvPr/>
        </p:nvSpPr>
        <p:spPr>
          <a:xfrm>
            <a:off x="748754" y="2174453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4"/>
          <p:cNvSpPr/>
          <p:nvPr/>
        </p:nvSpPr>
        <p:spPr>
          <a:xfrm>
            <a:off x="886792" y="2144241"/>
            <a:ext cx="3575134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Репозиторий MongoDB, прогноз на 5 дней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4"/>
          <p:cNvSpPr/>
          <p:nvPr/>
        </p:nvSpPr>
        <p:spPr>
          <a:xfrm>
            <a:off x="748754" y="2434903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886792" y="2404690"/>
            <a:ext cx="39446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Безопасность манифестов K8s: RBAC, лимиты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4"/>
          <p:cNvSpPr/>
          <p:nvPr/>
        </p:nvSpPr>
        <p:spPr>
          <a:xfrm>
            <a:off x="748754" y="2695352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886792" y="2665140"/>
            <a:ext cx="4209544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Секреты не попадают в код и историю коммитов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4755914" y="1338225"/>
            <a:ext cx="3838575" cy="2981325"/>
          </a:xfrm>
          <a:prstGeom prst="roundRect">
            <a:avLst>
              <a:gd fmla="val 3681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4956125" y="1520130"/>
            <a:ext cx="3484684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478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6B6478"/>
                </a:solidFill>
                <a:latin typeface="Roboto"/>
                <a:ea typeface="Roboto"/>
                <a:cs typeface="Roboto"/>
                <a:sym typeface="Roboto"/>
              </a:rPr>
              <a:t>Требует реального окружения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4955158" y="1914004"/>
            <a:ext cx="47625" cy="47625"/>
          </a:xfrm>
          <a:prstGeom prst="ellipse">
            <a:avLst/>
          </a:prstGeom>
          <a:solidFill>
            <a:srgbClr val="6B647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5093196" y="1883792"/>
            <a:ext cx="36970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HA Airflow на живом кластере Yandex Cloud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4955158" y="2174453"/>
            <a:ext cx="47625" cy="47625"/>
          </a:xfrm>
          <a:prstGeom prst="ellipse">
            <a:avLst/>
          </a:prstGeom>
          <a:solidFill>
            <a:srgbClr val="6B647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4"/>
          <p:cNvSpPr/>
          <p:nvPr/>
        </p:nvSpPr>
        <p:spPr>
          <a:xfrm>
            <a:off x="5093196" y="2144241"/>
            <a:ext cx="3622536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PySpark-джоб на реальном Spark-кластере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4"/>
          <p:cNvSpPr/>
          <p:nvPr/>
        </p:nvSpPr>
        <p:spPr>
          <a:xfrm>
            <a:off x="4955158" y="2434903"/>
            <a:ext cx="47625" cy="47625"/>
          </a:xfrm>
          <a:prstGeom prst="ellipse">
            <a:avLst/>
          </a:prstGeom>
          <a:solidFill>
            <a:srgbClr val="6B647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5093196" y="2404690"/>
            <a:ext cx="32566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Живой Prometheus + Grafana дашборд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4955158" y="2695352"/>
            <a:ext cx="47625" cy="47625"/>
          </a:xfrm>
          <a:prstGeom prst="ellipse">
            <a:avLst/>
          </a:prstGeom>
          <a:solidFill>
            <a:srgbClr val="6B647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5093196" y="2665140"/>
            <a:ext cx="3822978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080"/>
              <a:buFont typeface="Roboto"/>
              <a:buNone/>
            </a:pPr>
            <a:r>
              <a:rPr b="0" i="0" lang="en-US" sz="10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Прогон CI (GitHub Actions) на реальном пуше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5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5"/>
          <p:cNvSpPr/>
          <p:nvPr/>
        </p:nvSpPr>
        <p:spPr>
          <a:xfrm>
            <a:off x="548580" y="345728"/>
            <a:ext cx="5656652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2880"/>
              <a:buFont typeface="Roboto"/>
              <a:buNone/>
            </a:pPr>
            <a:r>
              <a:rPr b="1" i="0" lang="en-US" sz="288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Вопросы</a:t>
            </a:r>
            <a:endParaRPr b="1" sz="2880">
              <a:solidFill>
                <a:srgbClr val="1410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5"/>
          <p:cNvSpPr/>
          <p:nvPr/>
        </p:nvSpPr>
        <p:spPr>
          <a:xfrm>
            <a:off x="549511" y="1336811"/>
            <a:ext cx="3838575" cy="2881313"/>
          </a:xfrm>
          <a:prstGeom prst="roundRect">
            <a:avLst>
              <a:gd fmla="val 3808" name="adj"/>
            </a:avLst>
          </a:prstGeom>
          <a:solidFill>
            <a:srgbClr val="3B279D">
              <a:alpha val="5098"/>
            </a:srgbClr>
          </a:solidFill>
          <a:ln cap="flat" cmpd="sng" w="9525">
            <a:solidFill>
              <a:srgbClr val="3C289A">
                <a:alpha val="1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5"/>
          <p:cNvSpPr/>
          <p:nvPr/>
        </p:nvSpPr>
        <p:spPr>
          <a:xfrm>
            <a:off x="754484" y="1524893"/>
            <a:ext cx="249176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Возможные вопросы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5"/>
          <p:cNvSpPr/>
          <p:nvPr/>
        </p:nvSpPr>
        <p:spPr>
          <a:xfrm>
            <a:off x="754484" y="1902842"/>
            <a:ext cx="166271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5"/>
          <p:cNvSpPr/>
          <p:nvPr/>
        </p:nvSpPr>
        <p:spPr>
          <a:xfrm>
            <a:off x="929804" y="1888886"/>
            <a:ext cx="4017905" cy="350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Как DAG ведёт себя при недоступности сайта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ЦБ?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5"/>
          <p:cNvSpPr/>
          <p:nvPr/>
        </p:nvSpPr>
        <p:spPr>
          <a:xfrm>
            <a:off x="754484" y="2363912"/>
            <a:ext cx="166271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5"/>
          <p:cNvSpPr/>
          <p:nvPr/>
        </p:nvSpPr>
        <p:spPr>
          <a:xfrm>
            <a:off x="929804" y="2349624"/>
            <a:ext cx="403899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Почему прогноз не учитывает праздники РФ?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5"/>
          <p:cNvSpPr/>
          <p:nvPr/>
        </p:nvSpPr>
        <p:spPr>
          <a:xfrm>
            <a:off x="754484" y="2675930"/>
            <a:ext cx="166271" cy="176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150"/>
              <a:buFont typeface="Roboto"/>
              <a:buNone/>
            </a:pPr>
            <a:r>
              <a:rPr b="1" i="0" lang="en-US" sz="1150" u="none" cap="none" strike="noStrike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5"/>
          <p:cNvSpPr/>
          <p:nvPr/>
        </p:nvSpPr>
        <p:spPr>
          <a:xfrm>
            <a:off x="929804" y="2661974"/>
            <a:ext cx="4001750" cy="350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Как расширить решение на другие валютные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пары?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5"/>
          <p:cNvSpPr/>
          <p:nvPr/>
        </p:nvSpPr>
        <p:spPr>
          <a:xfrm>
            <a:off x="4755914" y="1336811"/>
            <a:ext cx="3838575" cy="2881313"/>
          </a:xfrm>
          <a:prstGeom prst="roundRect">
            <a:avLst>
              <a:gd fmla="val 380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9525">
              <a:srgbClr val="14101F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5"/>
          <p:cNvSpPr/>
          <p:nvPr/>
        </p:nvSpPr>
        <p:spPr>
          <a:xfrm>
            <a:off x="4956125" y="1520130"/>
            <a:ext cx="3102471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440"/>
              <a:buFont typeface="Roboto"/>
              <a:buNone/>
            </a:pPr>
            <a:r>
              <a:rPr b="1" i="0" lang="en-US" sz="144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Планы на будущее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/>
          <p:nvPr/>
        </p:nvSpPr>
        <p:spPr>
          <a:xfrm>
            <a:off x="4955158" y="1914004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5"/>
          <p:cNvSpPr/>
          <p:nvPr/>
        </p:nvSpPr>
        <p:spPr>
          <a:xfrm>
            <a:off x="5093196" y="1884123"/>
            <a:ext cx="4027676" cy="350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Перейти на Yandex Managed MongoDB вместо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9552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StatefulSet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5"/>
          <p:cNvSpPr/>
          <p:nvPr/>
        </p:nvSpPr>
        <p:spPr>
          <a:xfrm>
            <a:off x="4955158" y="2375074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25"/>
          <p:cNvSpPr/>
          <p:nvPr/>
        </p:nvSpPr>
        <p:spPr>
          <a:xfrm>
            <a:off x="5093196" y="2344862"/>
            <a:ext cx="4321470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Настроить egress-политику для ЦБ под конкретные IP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5"/>
          <p:cNvSpPr/>
          <p:nvPr/>
        </p:nvSpPr>
        <p:spPr>
          <a:xfrm>
            <a:off x="4955158" y="2651894"/>
            <a:ext cx="47625" cy="47625"/>
          </a:xfrm>
          <a:prstGeom prst="ellipse">
            <a:avLst/>
          </a:prstGeom>
          <a:solidFill>
            <a:srgbClr val="3F29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5"/>
          <p:cNvSpPr/>
          <p:nvPr/>
        </p:nvSpPr>
        <p:spPr>
          <a:xfrm>
            <a:off x="5093196" y="2621682"/>
            <a:ext cx="4118707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01F"/>
              </a:buClr>
              <a:buSzPts val="1120"/>
              <a:buFont typeface="Roboto"/>
              <a:buNone/>
            </a:pPr>
            <a:r>
              <a:rPr b="0" i="0" lang="en-US" sz="1120" u="none" cap="none" strike="noStrike">
                <a:solidFill>
                  <a:srgbClr val="14101F"/>
                </a:solidFill>
                <a:latin typeface="Roboto"/>
                <a:ea typeface="Roboto"/>
                <a:cs typeface="Roboto"/>
                <a:sym typeface="Roboto"/>
              </a:rPr>
              <a:t>Настроить автоматическую ротацию секретов</a:t>
            </a:r>
            <a:endParaRPr b="0" i="0" sz="11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1" name="Google Shape;32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818">
              <a:alpha val="7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548580" y="1921148"/>
            <a:ext cx="6438491" cy="5762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90"/>
              <a:buFont typeface="Roboto"/>
              <a:buNone/>
            </a:pPr>
            <a:r>
              <a:rPr b="1" i="0" lang="en-US" sz="389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Спасибо за внимание!</a:t>
            </a:r>
            <a:endParaRPr b="0" i="0" sz="3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6"/>
          <p:cNvSpPr/>
          <p:nvPr/>
        </p:nvSpPr>
        <p:spPr>
          <a:xfrm>
            <a:off x="548580" y="2651001"/>
            <a:ext cx="6864429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6B5BA"/>
              </a:buClr>
              <a:buSzPts val="1300"/>
              <a:buFont typeface="Roboto"/>
              <a:buNone/>
            </a:pPr>
            <a:r>
              <a:rPr b="0" i="0" lang="en-US" sz="1300" u="none" cap="none" strike="noStrike">
                <a:solidFill>
                  <a:srgbClr val="B6B5BA"/>
                </a:solidFill>
                <a:latin typeface="Roboto"/>
                <a:ea typeface="Roboto"/>
                <a:cs typeface="Roboto"/>
                <a:sym typeface="Roboto"/>
              </a:rPr>
              <a:t>github.com/Kuber-2026-05OTUS/basov_repo · ветка kubernetes-demo</a:t>
            </a:r>
            <a:r>
              <a:rPr lang="en-US" sz="1300">
                <a:solidFill>
                  <a:srgbClr val="B6B5BA"/>
                </a:solidFill>
                <a:latin typeface="Roboto"/>
                <a:ea typeface="Roboto"/>
                <a:cs typeface="Roboto"/>
                <a:sym typeface="Roboto"/>
              </a:rPr>
              <a:t> файл videos/1.mp4</a:t>
            </a:r>
            <a:endParaRPr sz="1300">
              <a:solidFill>
                <a:srgbClr val="B6B5B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